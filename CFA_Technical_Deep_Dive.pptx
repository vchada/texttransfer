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engineering walkthrough — where CFA came from, how we put the web app together, and the specific problems we had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context: the workbook was really three things in one file — the screen, the VBA logic, and a thin link to the SQL Server tables. That is what we had to untangle.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 more on the inside so the data model later makes sense: these are the tables and ids, and the key point is that everything was tangled into one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goals. Matching Excel and not moving the data were the two hard rules; everything else followed from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is three layers, plus a set of shared helpers. The important thing: the ported Excel math sits in the middle service layer,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 single request left to right: the browser calls the REST API, the controller hands off to a service, the service uses a repository, and that hits SQL Server. The answer comes back up as JSON, we map it into the tab, and it renders. Editing just adds the lock and a 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front-end devs: this is how a tab is organized and how data moves in and out. The mapping functions are where a lot of the field-level detail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 end: thin controllers, services hold the logic, and the database layer leans on hand-written SQL because the legacy schema is wide and quirky.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Excel was not just re-typing formulas — there were real traps like partial-year denominators and server-computed ratios we must not clobber.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worth dwelling on. The hidden/optional rows had no real identity — position-based, renameable, with comments. We gave them a real plan: reserved slots, keys that carry the slot, rename-in-place, and a comment-relink pass. Fiddliest part of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old-data landmine: a lookup that expects one row blows up when the data has duplicates. We found it through one contractor, then used a HAVING query to find them all, made the lookups safe, and cleaned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a file never had to think about. The lock is per tab, kept alive by typing, and it gates the save — and if you lose it, we keep your draft rather than lose your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gotcha worth sharing: returning a brand-new object from a template-bound method under OnPush loops forever. Symptom was a frozen edit mode; fix was caching for a stable object. Most of our "freezes" were this kind of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model and the backend contract did not line up one-to-one. We put all that reshaping in one function so the rest of the component works in plain UI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we would carry forward: test for parity, keep the data in place, keep the logic in one layer, mind OnPush object identity, and plan for the hidden complexity. Happy to go deeper on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3C"/>
        </a:solidFill>
      </p:bgPr>
    </p:bg>
    <p:spTree>
      <p:nvGrpSpPr>
        <p:cNvPr id="1" name=""/>
        <p:cNvGrpSpPr/>
        <p:nvPr/>
      </p:nvGrpSpPr>
      <p:grpSpPr>
        <a:xfrm>
          <a:off x="0" y="0"/>
          <a:ext cx="0" cy="0"/>
          <a:chOff x="0" y="0"/>
          <a:chExt cx="0" cy="0"/>
        </a:xfrm>
      </p:grpSpPr>
      <p:sp>
        <p:nvSpPr>
          <p:cNvPr id="2" name="Text 0"/>
          <p:cNvSpPr txBox="1"/>
          <p:nvPr/>
        </p:nvSpPr>
        <p:spPr>
          <a:xfrm>
            <a:off x="548640" y="1737360"/>
            <a:ext cx="8229600" cy="365760"/>
          </a:xfrm>
          <a:prstGeom prst="rect">
            <a:avLst/>
          </a:prstGeom>
          <a:noFill/>
          <a:ln/>
        </p:spPr>
        <p:txBody>
          <a:bodyPr wrap="square" rtlCol="0" anchor="ctr"/>
          <a:lstStyle/>
          <a:p>
            <a:pPr indent="0" marL="0">
              <a:buNone/>
            </a:pPr>
            <a:r>
              <a:rPr lang="en-US" sz="1400" b="1" spc="300" kern="0" dirty="0">
                <a:solidFill>
                  <a:srgbClr val="00A896"/>
                </a:solidFill>
                <a:latin typeface="Calibri" pitchFamily="34" charset="0"/>
                <a:ea typeface="Calibri" pitchFamily="34" charset="-122"/>
                <a:cs typeface="Calibri" pitchFamily="34" charset="-120"/>
              </a:rPr>
              <a:t>TECHNICAL DEEP DIVE</a:t>
            </a:r>
            <a:endParaRPr lang="en-US" sz="1400" dirty="0"/>
          </a:p>
        </p:txBody>
      </p:sp>
      <p:sp>
        <p:nvSpPr>
          <p:cNvPr id="3" name="Text 1"/>
          <p:cNvSpPr txBox="1"/>
          <p:nvPr/>
        </p:nvSpPr>
        <p:spPr>
          <a:xfrm>
            <a:off x="548640" y="2194560"/>
            <a:ext cx="10515600" cy="10972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CFA: How We Rebuilt It</a:t>
            </a:r>
            <a:endParaRPr lang="en-US" sz="4200" dirty="0"/>
          </a:p>
        </p:txBody>
      </p:sp>
      <p:sp>
        <p:nvSpPr>
          <p:cNvPr id="4" name="Text 2"/>
          <p:cNvSpPr txBox="1"/>
          <p:nvPr/>
        </p:nvSpPr>
        <p:spPr>
          <a:xfrm>
            <a:off x="548640" y="3429000"/>
            <a:ext cx="9601200" cy="914400"/>
          </a:xfrm>
          <a:prstGeom prst="rect">
            <a:avLst/>
          </a:prstGeom>
          <a:noFill/>
          <a:ln/>
        </p:spPr>
        <p:txBody>
          <a:bodyPr wrap="square" rtlCol="0" anchor="ctr"/>
          <a:lstStyle/>
          <a:p>
            <a:pPr indent="0" marL="0">
              <a:lnSpc>
                <a:spcPct val="110000"/>
              </a:lnSpc>
              <a:buNone/>
            </a:pPr>
            <a:r>
              <a:rPr lang="en-US" sz="1600" dirty="0">
                <a:solidFill>
                  <a:srgbClr val="CADCFC"/>
                </a:solidFill>
                <a:latin typeface="Calibri" pitchFamily="34" charset="0"/>
                <a:ea typeface="Calibri" pitchFamily="34" charset="-122"/>
                <a:cs typeface="Calibri" pitchFamily="34" charset="-120"/>
              </a:rPr>
              <a:t>We took the old Excel-based CFA workbook and turned it into a web app. Here is where we started, how it is built, and the problems we ran into along the way.</a:t>
            </a:r>
            <a:endParaRPr lang="en-US" sz="1600" dirty="0"/>
          </a:p>
        </p:txBody>
      </p:sp>
      <p:sp>
        <p:nvSpPr>
          <p:cNvPr id="5" name="Text 3"/>
          <p:cNvSpPr txBox="1"/>
          <p:nvPr/>
        </p:nvSpPr>
        <p:spPr>
          <a:xfrm>
            <a:off x="548640" y="4434840"/>
            <a:ext cx="8229600" cy="365760"/>
          </a:xfrm>
          <a:prstGeom prst="rect">
            <a:avLst/>
          </a:prstGeom>
          <a:noFill/>
          <a:ln/>
        </p:spPr>
        <p:txBody>
          <a:bodyPr wrap="square" rtlCol="0" anchor="ctr"/>
          <a:lstStyle/>
          <a:p>
            <a:pPr indent="0" marL="0">
              <a:buNone/>
            </a:pPr>
            <a:r>
              <a:rPr lang="en-US" sz="1300" i="1" dirty="0">
                <a:solidFill>
                  <a:srgbClr val="00A896"/>
                </a:solidFill>
                <a:latin typeface="Calibri" pitchFamily="34" charset="0"/>
                <a:ea typeface="Calibri" pitchFamily="34" charset="-122"/>
                <a:cs typeface="Calibri" pitchFamily="34" charset="-120"/>
              </a:rPr>
              <a:t>Written for the people who will build on it — architects and developers.</a:t>
            </a:r>
            <a:endParaRPr lang="en-US" sz="1300" dirty="0"/>
          </a:p>
        </p:txBody>
      </p:sp>
      <p:sp>
        <p:nvSpPr>
          <p:cNvPr id="6" name="Text 4"/>
          <p:cNvSpPr txBox="1"/>
          <p:nvPr/>
        </p:nvSpPr>
        <p:spPr>
          <a:xfrm>
            <a:off x="548640" y="6217920"/>
            <a:ext cx="7315200" cy="320040"/>
          </a:xfrm>
          <a:prstGeom prst="rect">
            <a:avLst/>
          </a:prstGeom>
          <a:noFill/>
          <a:ln/>
        </p:spPr>
        <p:txBody>
          <a:bodyPr wrap="square" rtlCol="0" anchor="ctr"/>
          <a:lstStyle/>
          <a:p>
            <a:pPr indent="0" marL="0">
              <a:buNone/>
            </a:pPr>
            <a:r>
              <a:rPr lang="en-US" sz="1200" dirty="0">
                <a:solidFill>
                  <a:srgbClr val="8E98AD"/>
                </a:solidFill>
                <a:latin typeface="Calibri" pitchFamily="34" charset="0"/>
                <a:ea typeface="Calibri" pitchFamily="34" charset="-122"/>
                <a:cs typeface="Calibri" pitchFamily="34" charset="-120"/>
              </a:rPr>
              <a:t>Surety Next Level  ·  Engineering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WHERE IT STARTED</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It started as an Excel file</a:t>
            </a:r>
            <a:endParaRPr lang="en-US" sz="2800" dirty="0"/>
          </a:p>
        </p:txBody>
      </p:sp>
      <p:sp>
        <p:nvSpPr>
          <p:cNvPr id="4" name="Text 2"/>
          <p:cNvSpPr txBox="1"/>
          <p:nvPr/>
        </p:nvSpPr>
        <p:spPr>
          <a:xfrm>
            <a:off x="548640" y="1554480"/>
            <a:ext cx="6766560" cy="3840480"/>
          </a:xfrm>
          <a:prstGeom prst="rect">
            <a:avLst/>
          </a:prstGeom>
          <a:noFill/>
          <a:ln/>
        </p:spPr>
        <p:txBody>
          <a:bodyPr wrap="square" rtlCol="0" anchor="t"/>
          <a:lstStyle/>
          <a:p>
            <a:pPr marL="342900" indent="-342900">
              <a:lnSpc>
                <a:spcPct val="105000"/>
              </a:lnSpc>
              <a:spcAft>
                <a:spcPts val="700"/>
              </a:spcAft>
              <a:buSzPct val="100000"/>
              <a:buChar char="•"/>
            </a:pPr>
            <a:r>
              <a:rPr lang="en-US" sz="1450" dirty="0">
                <a:solidFill>
                  <a:srgbClr val="20242F"/>
                </a:solidFill>
                <a:latin typeface="Calibri" pitchFamily="34" charset="0"/>
                <a:ea typeface="Calibri" pitchFamily="34" charset="-122"/>
                <a:cs typeface="Calibri" pitchFamily="34" charset="-120"/>
              </a:rPr>
              <a:t>For years, CFA was just an Excel workbook (the BBLS workbook) — one sheet for each part of the analysis.</a:t>
            </a:r>
            <a:endParaRPr lang="en-US" sz="1450" dirty="0"/>
          </a:p>
          <a:p>
            <a:pPr marL="342900" indent="-342900">
              <a:lnSpc>
                <a:spcPct val="105000"/>
              </a:lnSpc>
              <a:spcAft>
                <a:spcPts val="700"/>
              </a:spcAft>
              <a:buSzPct val="100000"/>
              <a:buChar char="•"/>
            </a:pPr>
            <a:r>
              <a:rPr lang="en-US" sz="1450" dirty="0">
                <a:solidFill>
                  <a:srgbClr val="20242F"/>
                </a:solidFill>
                <a:latin typeface="Calibri" pitchFamily="34" charset="0"/>
                <a:ea typeface="Calibri" pitchFamily="34" charset="-122"/>
                <a:cs typeface="Calibri" pitchFamily="34" charset="-120"/>
              </a:rPr>
              <a:t>The cells pulled numbers straight from SQL Server, so opening the file loaded the latest data.</a:t>
            </a:r>
            <a:endParaRPr lang="en-US" sz="1450" dirty="0"/>
          </a:p>
          <a:p>
            <a:pPr marL="342900" indent="-342900">
              <a:lnSpc>
                <a:spcPct val="105000"/>
              </a:lnSpc>
              <a:spcAft>
                <a:spcPts val="700"/>
              </a:spcAft>
              <a:buSzPct val="100000"/>
              <a:buChar char="•"/>
            </a:pPr>
            <a:r>
              <a:rPr lang="en-US" sz="1450" dirty="0">
                <a:solidFill>
                  <a:srgbClr val="20242F"/>
                </a:solidFill>
                <a:latin typeface="Calibri" pitchFamily="34" charset="0"/>
                <a:ea typeface="Calibri" pitchFamily="34" charset="-122"/>
                <a:cs typeface="Calibri" pitchFamily="34" charset="-120"/>
              </a:rPr>
              <a:t>The actual math — scoring, ratios, grades — lived in VBA macros. MatrixScore.vb, for example, recalculated and saved back whenever you opened that sheet.</a:t>
            </a:r>
            <a:endParaRPr lang="en-US" sz="1450" dirty="0"/>
          </a:p>
          <a:p>
            <a:pPr marL="342900" indent="-342900">
              <a:lnSpc>
                <a:spcPct val="105000"/>
              </a:lnSpc>
              <a:spcAft>
                <a:spcPts val="700"/>
              </a:spcAft>
              <a:buSzPct val="100000"/>
              <a:buChar char="•"/>
            </a:pPr>
            <a:r>
              <a:rPr lang="en-US" sz="1450" dirty="0">
                <a:solidFill>
                  <a:srgbClr val="20242F"/>
                </a:solidFill>
                <a:latin typeface="Calibri" pitchFamily="34" charset="0"/>
                <a:ea typeface="Calibri" pitchFamily="34" charset="-122"/>
                <a:cs typeface="Calibri" pitchFamily="34" charset="-120"/>
              </a:rPr>
              <a:t>It worked and people knew it well. But only one person could use it at a time, the logic was hard to see, and there were no tests and no real controls.</a:t>
            </a:r>
            <a:endParaRPr lang="en-US" sz="1450" dirty="0"/>
          </a:p>
        </p:txBody>
      </p:sp>
      <p:sp>
        <p:nvSpPr>
          <p:cNvPr id="5" name="Shape 3"/>
          <p:cNvSpPr/>
          <p:nvPr/>
        </p:nvSpPr>
        <p:spPr>
          <a:xfrm>
            <a:off x="7772400" y="1828800"/>
            <a:ext cx="3840480" cy="868680"/>
          </a:xfrm>
          <a:prstGeom prst="roundRect">
            <a:avLst>
              <a:gd name="adj" fmla="val 8421"/>
            </a:avLst>
          </a:prstGeom>
          <a:solidFill>
            <a:srgbClr val="E0A458"/>
          </a:solidFill>
          <a:ln/>
        </p:spPr>
      </p:sp>
      <p:sp>
        <p:nvSpPr>
          <p:cNvPr id="6" name="Text 4"/>
          <p:cNvSpPr txBox="1"/>
          <p:nvPr/>
        </p:nvSpPr>
        <p:spPr>
          <a:xfrm>
            <a:off x="7909560" y="1828800"/>
            <a:ext cx="3566160" cy="868680"/>
          </a:xfrm>
          <a:prstGeom prst="rect">
            <a:avLst/>
          </a:prstGeom>
          <a:noFill/>
          <a:ln/>
        </p:spPr>
        <p:txBody>
          <a:bodyPr wrap="square" rtlCol="0" anchor="ctr"/>
          <a:lstStyle/>
          <a:p>
            <a:pPr algn="ctr" indent="0" marL="0">
              <a:buNone/>
            </a:pPr>
            <a:r>
              <a:rPr lang="en-US" sz="1300" b="1" dirty="0">
                <a:solidFill>
                  <a:srgbClr val="141A3C"/>
                </a:solidFill>
                <a:latin typeface="Calibri" pitchFamily="34" charset="0"/>
                <a:ea typeface="Calibri" pitchFamily="34" charset="-122"/>
                <a:cs typeface="Calibri" pitchFamily="34" charset="-120"/>
              </a:rPr>
              <a:t>Excel workbook (.xlsm)</a:t>
            </a:r>
            <a:endParaRPr lang="en-US" sz="1300" dirty="0"/>
          </a:p>
        </p:txBody>
      </p:sp>
      <p:sp>
        <p:nvSpPr>
          <p:cNvPr id="7" name="Shape 5"/>
          <p:cNvSpPr/>
          <p:nvPr/>
        </p:nvSpPr>
        <p:spPr>
          <a:xfrm>
            <a:off x="9692640" y="2697480"/>
            <a:ext cx="0" cy="411480"/>
          </a:xfrm>
          <a:prstGeom prst="line">
            <a:avLst/>
          </a:prstGeom>
          <a:noFill/>
          <a:ln w="25400">
            <a:solidFill>
              <a:srgbClr val="5B6472"/>
            </a:solidFill>
            <a:prstDash val="solid"/>
            <a:tailEnd type="triangle"/>
          </a:ln>
        </p:spPr>
      </p:sp>
      <p:sp>
        <p:nvSpPr>
          <p:cNvPr id="8" name="Shape 6"/>
          <p:cNvSpPr/>
          <p:nvPr/>
        </p:nvSpPr>
        <p:spPr>
          <a:xfrm>
            <a:off x="7772400" y="3108960"/>
            <a:ext cx="3840480" cy="868680"/>
          </a:xfrm>
          <a:prstGeom prst="roundRect">
            <a:avLst>
              <a:gd name="adj" fmla="val 8421"/>
            </a:avLst>
          </a:prstGeom>
          <a:solidFill>
            <a:srgbClr val="B5651D"/>
          </a:solidFill>
          <a:ln/>
        </p:spPr>
      </p:sp>
      <p:sp>
        <p:nvSpPr>
          <p:cNvPr id="9" name="Text 7"/>
          <p:cNvSpPr txBox="1"/>
          <p:nvPr/>
        </p:nvSpPr>
        <p:spPr>
          <a:xfrm>
            <a:off x="7909560" y="3108960"/>
            <a:ext cx="356616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VBA macros — MatrixScore.vb</a:t>
            </a:r>
            <a:endParaRPr lang="en-US" sz="1300" dirty="0"/>
          </a:p>
        </p:txBody>
      </p:sp>
      <p:sp>
        <p:nvSpPr>
          <p:cNvPr id="10" name="Shape 8"/>
          <p:cNvSpPr/>
          <p:nvPr/>
        </p:nvSpPr>
        <p:spPr>
          <a:xfrm>
            <a:off x="9692640" y="3977640"/>
            <a:ext cx="0" cy="411480"/>
          </a:xfrm>
          <a:prstGeom prst="line">
            <a:avLst/>
          </a:prstGeom>
          <a:noFill/>
          <a:ln w="25400">
            <a:solidFill>
              <a:srgbClr val="5B6472"/>
            </a:solidFill>
            <a:prstDash val="solid"/>
            <a:tailEnd type="triangle"/>
          </a:ln>
        </p:spPr>
      </p:sp>
      <p:sp>
        <p:nvSpPr>
          <p:cNvPr id="11" name="Shape 9"/>
          <p:cNvSpPr/>
          <p:nvPr/>
        </p:nvSpPr>
        <p:spPr>
          <a:xfrm>
            <a:off x="7772400" y="4389120"/>
            <a:ext cx="3840480" cy="868680"/>
          </a:xfrm>
          <a:prstGeom prst="roundRect">
            <a:avLst>
              <a:gd name="adj" fmla="val 8421"/>
            </a:avLst>
          </a:prstGeom>
          <a:solidFill>
            <a:srgbClr val="1E2761"/>
          </a:solidFill>
          <a:ln/>
        </p:spPr>
      </p:sp>
      <p:sp>
        <p:nvSpPr>
          <p:cNvPr id="12" name="Text 10"/>
          <p:cNvSpPr txBox="1"/>
          <p:nvPr/>
        </p:nvSpPr>
        <p:spPr>
          <a:xfrm>
            <a:off x="7909560" y="4389120"/>
            <a:ext cx="3566160" cy="8686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SQL Server — BBLS</a:t>
            </a:r>
            <a:endParaRPr lang="en-US" sz="1300" dirty="0"/>
          </a:p>
        </p:txBody>
      </p:sp>
      <p:sp>
        <p:nvSpPr>
          <p:cNvPr id="13" name="Text 11"/>
          <p:cNvSpPr txBox="1"/>
          <p:nvPr/>
        </p:nvSpPr>
        <p:spPr>
          <a:xfrm>
            <a:off x="7680960" y="5532120"/>
            <a:ext cx="4023360" cy="640080"/>
          </a:xfrm>
          <a:prstGeom prst="rect">
            <a:avLst/>
          </a:prstGeom>
          <a:noFill/>
          <a:ln/>
        </p:spPr>
        <p:txBody>
          <a:bodyPr wrap="square" rtlCol="0" anchor="ctr"/>
          <a:lstStyle/>
          <a:p>
            <a:pPr algn="ctr" indent="0" marL="0">
              <a:lnSpc>
                <a:spcPct val="100000"/>
              </a:lnSpc>
              <a:buNone/>
            </a:pPr>
            <a:r>
              <a:rPr lang="en-US" sz="1150" i="1" dirty="0">
                <a:solidFill>
                  <a:srgbClr val="5B6472"/>
                </a:solidFill>
                <a:latin typeface="Calibri" pitchFamily="34" charset="0"/>
                <a:ea typeface="Calibri" pitchFamily="34" charset="-122"/>
                <a:cs typeface="Calibri" pitchFamily="34" charset="-120"/>
              </a:rPr>
              <a:t>Really, the spreadsheet was the whole app — the screen, the logic and the data link, all in one file.</a:t>
            </a:r>
            <a:endParaRPr lang="en-US" sz="1150" dirty="0"/>
          </a:p>
        </p:txBody>
      </p:sp>
      <p:sp>
        <p:nvSpPr>
          <p:cNvPr id="14" name="Text 1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5" name="Text 1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A LOOK INSIDE</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What was actually inside the workbook</a:t>
            </a:r>
            <a:endParaRPr lang="en-US" sz="2800" dirty="0"/>
          </a:p>
        </p:txBody>
      </p:sp>
      <p:sp>
        <p:nvSpPr>
          <p:cNvPr id="4" name="Shape 2"/>
          <p:cNvSpPr/>
          <p:nvPr/>
        </p:nvSpPr>
        <p:spPr>
          <a:xfrm>
            <a:off x="548640" y="1508760"/>
            <a:ext cx="5486400" cy="2148840"/>
          </a:xfrm>
          <a:prstGeom prst="roundRect">
            <a:avLst>
              <a:gd name="adj" fmla="val 3830"/>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5" name="Shape 3"/>
          <p:cNvSpPr/>
          <p:nvPr/>
        </p:nvSpPr>
        <p:spPr>
          <a:xfrm>
            <a:off x="804672" y="1792224"/>
            <a:ext cx="118872" cy="118872"/>
          </a:xfrm>
          <a:prstGeom prst="ellipse">
            <a:avLst/>
          </a:prstGeom>
          <a:solidFill>
            <a:srgbClr val="028090"/>
          </a:solidFill>
          <a:ln/>
        </p:spPr>
      </p:sp>
      <p:sp>
        <p:nvSpPr>
          <p:cNvPr id="6" name="Text 4"/>
          <p:cNvSpPr txBox="1"/>
          <p:nvPr/>
        </p:nvSpPr>
        <p:spPr>
          <a:xfrm>
            <a:off x="1005840" y="1664208"/>
            <a:ext cx="484632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sheets and the logic</a:t>
            </a:r>
            <a:endParaRPr lang="en-US" sz="1450" dirty="0"/>
          </a:p>
        </p:txBody>
      </p:sp>
      <p:sp>
        <p:nvSpPr>
          <p:cNvPr id="7" name="Text 5"/>
          <p:cNvSpPr txBox="1"/>
          <p:nvPr/>
        </p:nvSpPr>
        <p:spPr>
          <a:xfrm>
            <a:off x="859536" y="2112264"/>
            <a:ext cx="4937760" cy="14173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Seven sheets — one per area (Main Page, Summary, Ratios, Interim, Personal, Affiliate, Matrix Score).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Macros recalculated when you switched sheets, and formatting rules did things like show negatives in red and hide unused rows.</a:t>
            </a:r>
            <a:endParaRPr lang="en-US" sz="1200" dirty="0"/>
          </a:p>
        </p:txBody>
      </p:sp>
      <p:sp>
        <p:nvSpPr>
          <p:cNvPr id="8" name="Shape 6"/>
          <p:cNvSpPr/>
          <p:nvPr/>
        </p:nvSpPr>
        <p:spPr>
          <a:xfrm>
            <a:off x="6217920" y="1508760"/>
            <a:ext cx="5394960" cy="2148840"/>
          </a:xfrm>
          <a:prstGeom prst="roundRect">
            <a:avLst>
              <a:gd name="adj" fmla="val 3830"/>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9" name="Shape 7"/>
          <p:cNvSpPr/>
          <p:nvPr/>
        </p:nvSpPr>
        <p:spPr>
          <a:xfrm>
            <a:off x="6473952" y="1792224"/>
            <a:ext cx="118872" cy="118872"/>
          </a:xfrm>
          <a:prstGeom prst="ellipse">
            <a:avLst/>
          </a:prstGeom>
          <a:solidFill>
            <a:srgbClr val="1E2761"/>
          </a:solidFill>
          <a:ln/>
        </p:spPr>
      </p:sp>
      <p:sp>
        <p:nvSpPr>
          <p:cNvPr id="10" name="Text 8"/>
          <p:cNvSpPr txBox="1"/>
          <p:nvPr/>
        </p:nvSpPr>
        <p:spPr>
          <a:xfrm>
            <a:off x="6675120" y="1664208"/>
            <a:ext cx="475488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data</a:t>
            </a:r>
            <a:endParaRPr lang="en-US" sz="1450" dirty="0"/>
          </a:p>
        </p:txBody>
      </p:sp>
      <p:sp>
        <p:nvSpPr>
          <p:cNvPr id="11" name="Text 9"/>
          <p:cNvSpPr txBox="1"/>
          <p:nvPr/>
        </p:nvSpPr>
        <p:spPr>
          <a:xfrm>
            <a:off x="6528816" y="2112264"/>
            <a:ext cx="4846320" cy="14173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A few SQL Server tables: tblMain (financials by year), tblPrincipal (the account), plus tblProgramHistory, tblCredit and tblHistory.</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The account is keyed by ContractorsID (same as PrincipalID); there is also a SubmissionID and a clientId.</a:t>
            </a:r>
            <a:endParaRPr lang="en-US" sz="1200" dirty="0"/>
          </a:p>
        </p:txBody>
      </p:sp>
      <p:sp>
        <p:nvSpPr>
          <p:cNvPr id="12" name="Shape 10"/>
          <p:cNvSpPr/>
          <p:nvPr/>
        </p:nvSpPr>
        <p:spPr>
          <a:xfrm>
            <a:off x="548640" y="3886200"/>
            <a:ext cx="11064240" cy="1828800"/>
          </a:xfrm>
          <a:prstGeom prst="roundRect">
            <a:avLst>
              <a:gd name="adj" fmla="val 4500"/>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13" name="Shape 11"/>
          <p:cNvSpPr/>
          <p:nvPr/>
        </p:nvSpPr>
        <p:spPr>
          <a:xfrm>
            <a:off x="804672" y="4169664"/>
            <a:ext cx="118872" cy="118872"/>
          </a:xfrm>
          <a:prstGeom prst="ellipse">
            <a:avLst/>
          </a:prstGeom>
          <a:solidFill>
            <a:srgbClr val="B5651D"/>
          </a:solidFill>
          <a:ln/>
        </p:spPr>
      </p:sp>
      <p:sp>
        <p:nvSpPr>
          <p:cNvPr id="14" name="Text 12"/>
          <p:cNvSpPr txBox="1"/>
          <p:nvPr/>
        </p:nvSpPr>
        <p:spPr>
          <a:xfrm>
            <a:off x="1005840" y="4041648"/>
            <a:ext cx="1042416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thing that made it tricky</a:t>
            </a:r>
            <a:endParaRPr lang="en-US" sz="1450" dirty="0"/>
          </a:p>
        </p:txBody>
      </p:sp>
      <p:sp>
        <p:nvSpPr>
          <p:cNvPr id="15" name="Text 13"/>
          <p:cNvSpPr txBox="1"/>
          <p:nvPr/>
        </p:nvSpPr>
        <p:spPr>
          <a:xfrm>
            <a:off x="859536" y="4489704"/>
            <a:ext cx="10515600" cy="109728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The screen, the logic and the data access were all tangled together in one file — no clear lines between them, no types, no tests.</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To rebuild it, we had to pull those apart into three layers — without changing any numbers or moving any data.</a:t>
            </a:r>
            <a:endParaRPr lang="en-US" sz="1200" dirty="0"/>
          </a:p>
        </p:txBody>
      </p:sp>
      <p:sp>
        <p:nvSpPr>
          <p:cNvPr id="16" name="Text 14"/>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7" name="Text 15"/>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WHAT WE WANTED</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What we set out to do</a:t>
            </a:r>
            <a:endParaRPr lang="en-US" sz="2800" dirty="0"/>
          </a:p>
        </p:txBody>
      </p:sp>
      <p:sp>
        <p:nvSpPr>
          <p:cNvPr id="4" name="Shape 2"/>
          <p:cNvSpPr/>
          <p:nvPr/>
        </p:nvSpPr>
        <p:spPr>
          <a:xfrm>
            <a:off x="548640" y="1591056"/>
            <a:ext cx="457200" cy="457200"/>
          </a:xfrm>
          <a:prstGeom prst="ellipse">
            <a:avLst/>
          </a:prstGeom>
          <a:solidFill>
            <a:srgbClr val="00A896"/>
          </a:solidFill>
          <a:ln/>
        </p:spPr>
      </p:sp>
      <p:sp>
        <p:nvSpPr>
          <p:cNvPr id="5" name="Text 3"/>
          <p:cNvSpPr txBox="1"/>
          <p:nvPr/>
        </p:nvSpPr>
        <p:spPr>
          <a:xfrm>
            <a:off x="548640" y="1591056"/>
            <a:ext cx="457200" cy="45720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234440" y="1554480"/>
            <a:ext cx="3291840" cy="548640"/>
          </a:xfrm>
          <a:prstGeom prst="rect">
            <a:avLst/>
          </a:prstGeom>
          <a:noFill/>
          <a:ln/>
        </p:spPr>
        <p:txBody>
          <a:bodyPr wrap="square"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Match Excel exactly</a:t>
            </a:r>
            <a:endParaRPr lang="en-US" sz="1550" dirty="0"/>
          </a:p>
        </p:txBody>
      </p:sp>
      <p:sp>
        <p:nvSpPr>
          <p:cNvPr id="7" name="Text 5"/>
          <p:cNvSpPr txBox="1"/>
          <p:nvPr/>
        </p:nvSpPr>
        <p:spPr>
          <a:xfrm>
            <a:off x="4572000" y="1554480"/>
            <a:ext cx="7068312" cy="548640"/>
          </a:xfrm>
          <a:prstGeom prst="rect">
            <a:avLst/>
          </a:prstGeom>
          <a:noFill/>
          <a:ln/>
        </p:spPr>
        <p:txBody>
          <a:bodyPr wrap="square" rtlCol="0" anchor="ctr"/>
          <a:lstStyle/>
          <a:p>
            <a:pPr indent="0" marL="0">
              <a:lnSpc>
                <a:spcPct val="100000"/>
              </a:lnSpc>
              <a:buNone/>
            </a:pPr>
            <a:r>
              <a:rPr lang="en-US" sz="1350" dirty="0">
                <a:solidFill>
                  <a:srgbClr val="20242F"/>
                </a:solidFill>
                <a:latin typeface="Calibri" pitchFamily="34" charset="0"/>
                <a:ea typeface="Calibri" pitchFamily="34" charset="-122"/>
                <a:cs typeface="Calibri" pitchFamily="34" charset="-120"/>
              </a:rPr>
              <a:t>The numbers had to come out the same as the workbook — down to the penny.</a:t>
            </a:r>
            <a:endParaRPr lang="en-US" sz="1350" dirty="0"/>
          </a:p>
        </p:txBody>
      </p:sp>
      <p:sp>
        <p:nvSpPr>
          <p:cNvPr id="8" name="Shape 6"/>
          <p:cNvSpPr/>
          <p:nvPr/>
        </p:nvSpPr>
        <p:spPr>
          <a:xfrm>
            <a:off x="548640" y="2459736"/>
            <a:ext cx="457200" cy="457200"/>
          </a:xfrm>
          <a:prstGeom prst="ellipse">
            <a:avLst/>
          </a:prstGeom>
          <a:solidFill>
            <a:srgbClr val="00A896"/>
          </a:solidFill>
          <a:ln/>
        </p:spPr>
      </p:sp>
      <p:sp>
        <p:nvSpPr>
          <p:cNvPr id="9" name="Text 7"/>
          <p:cNvSpPr txBox="1"/>
          <p:nvPr/>
        </p:nvSpPr>
        <p:spPr>
          <a:xfrm>
            <a:off x="548640" y="2459736"/>
            <a:ext cx="457200" cy="45720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234440" y="2423160"/>
            <a:ext cx="3291840" cy="548640"/>
          </a:xfrm>
          <a:prstGeom prst="rect">
            <a:avLst/>
          </a:prstGeom>
          <a:noFill/>
          <a:ln/>
        </p:spPr>
        <p:txBody>
          <a:bodyPr wrap="square"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Leave the data where it is</a:t>
            </a:r>
            <a:endParaRPr lang="en-US" sz="1550" dirty="0"/>
          </a:p>
        </p:txBody>
      </p:sp>
      <p:sp>
        <p:nvSpPr>
          <p:cNvPr id="11" name="Text 9"/>
          <p:cNvSpPr txBox="1"/>
          <p:nvPr/>
        </p:nvSpPr>
        <p:spPr>
          <a:xfrm>
            <a:off x="4572000" y="2423160"/>
            <a:ext cx="7068312" cy="548640"/>
          </a:xfrm>
          <a:prstGeom prst="rect">
            <a:avLst/>
          </a:prstGeom>
          <a:noFill/>
          <a:ln/>
        </p:spPr>
        <p:txBody>
          <a:bodyPr wrap="square" rtlCol="0" anchor="ctr"/>
          <a:lstStyle/>
          <a:p>
            <a:pPr indent="0" marL="0">
              <a:lnSpc>
                <a:spcPct val="100000"/>
              </a:lnSpc>
              <a:buNone/>
            </a:pPr>
            <a:r>
              <a:rPr lang="en-US" sz="1350" dirty="0">
                <a:solidFill>
                  <a:srgbClr val="20242F"/>
                </a:solidFill>
                <a:latin typeface="Calibri" pitchFamily="34" charset="0"/>
                <a:ea typeface="Calibri" pitchFamily="34" charset="-122"/>
                <a:cs typeface="Calibri" pitchFamily="34" charset="-120"/>
              </a:rPr>
              <a:t>Keep using the same SQL Server database. We moved the logic, not the data.</a:t>
            </a:r>
            <a:endParaRPr lang="en-US" sz="1350" dirty="0"/>
          </a:p>
        </p:txBody>
      </p:sp>
      <p:sp>
        <p:nvSpPr>
          <p:cNvPr id="12" name="Shape 10"/>
          <p:cNvSpPr/>
          <p:nvPr/>
        </p:nvSpPr>
        <p:spPr>
          <a:xfrm>
            <a:off x="548640" y="3328416"/>
            <a:ext cx="457200" cy="457200"/>
          </a:xfrm>
          <a:prstGeom prst="ellipse">
            <a:avLst/>
          </a:prstGeom>
          <a:solidFill>
            <a:srgbClr val="1E2761"/>
          </a:solidFill>
          <a:ln/>
        </p:spPr>
      </p:sp>
      <p:sp>
        <p:nvSpPr>
          <p:cNvPr id="13" name="Text 11"/>
          <p:cNvSpPr txBox="1"/>
          <p:nvPr/>
        </p:nvSpPr>
        <p:spPr>
          <a:xfrm>
            <a:off x="548640" y="3328416"/>
            <a:ext cx="457200" cy="45720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4" name="Text 12"/>
          <p:cNvSpPr txBox="1"/>
          <p:nvPr/>
        </p:nvSpPr>
        <p:spPr>
          <a:xfrm>
            <a:off x="1234440" y="3291840"/>
            <a:ext cx="3291840" cy="548640"/>
          </a:xfrm>
          <a:prstGeom prst="rect">
            <a:avLst/>
          </a:prstGeom>
          <a:noFill/>
          <a:ln/>
        </p:spPr>
        <p:txBody>
          <a:bodyPr wrap="square"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Let people work together</a:t>
            </a:r>
            <a:endParaRPr lang="en-US" sz="1550" dirty="0"/>
          </a:p>
        </p:txBody>
      </p:sp>
      <p:sp>
        <p:nvSpPr>
          <p:cNvPr id="15" name="Text 13"/>
          <p:cNvSpPr txBox="1"/>
          <p:nvPr/>
        </p:nvSpPr>
        <p:spPr>
          <a:xfrm>
            <a:off x="4572000" y="3291840"/>
            <a:ext cx="7068312" cy="548640"/>
          </a:xfrm>
          <a:prstGeom prst="rect">
            <a:avLst/>
          </a:prstGeom>
          <a:noFill/>
          <a:ln/>
        </p:spPr>
        <p:txBody>
          <a:bodyPr wrap="square" rtlCol="0" anchor="ctr"/>
          <a:lstStyle/>
          <a:p>
            <a:pPr indent="0" marL="0">
              <a:lnSpc>
                <a:spcPct val="100000"/>
              </a:lnSpc>
              <a:buNone/>
            </a:pPr>
            <a:r>
              <a:rPr lang="en-US" sz="1350" dirty="0">
                <a:solidFill>
                  <a:srgbClr val="20242F"/>
                </a:solidFill>
                <a:latin typeface="Calibri" pitchFamily="34" charset="0"/>
                <a:ea typeface="Calibri" pitchFamily="34" charset="-122"/>
                <a:cs typeface="Calibri" pitchFamily="34" charset="-120"/>
              </a:rPr>
              <a:t>Several people at once, with proper checks and a record of who changed what — things a file never gave us.</a:t>
            </a:r>
            <a:endParaRPr lang="en-US" sz="1350" dirty="0"/>
          </a:p>
        </p:txBody>
      </p:sp>
      <p:sp>
        <p:nvSpPr>
          <p:cNvPr id="16" name="Shape 14"/>
          <p:cNvSpPr/>
          <p:nvPr/>
        </p:nvSpPr>
        <p:spPr>
          <a:xfrm>
            <a:off x="548640" y="4197096"/>
            <a:ext cx="457200" cy="457200"/>
          </a:xfrm>
          <a:prstGeom prst="ellipse">
            <a:avLst/>
          </a:prstGeom>
          <a:solidFill>
            <a:srgbClr val="1E2761"/>
          </a:solidFill>
          <a:ln/>
        </p:spPr>
      </p:sp>
      <p:sp>
        <p:nvSpPr>
          <p:cNvPr id="17" name="Text 15"/>
          <p:cNvSpPr txBox="1"/>
          <p:nvPr/>
        </p:nvSpPr>
        <p:spPr>
          <a:xfrm>
            <a:off x="548640" y="4197096"/>
            <a:ext cx="457200" cy="45720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8" name="Text 16"/>
          <p:cNvSpPr txBox="1"/>
          <p:nvPr/>
        </p:nvSpPr>
        <p:spPr>
          <a:xfrm>
            <a:off x="1234440" y="4160520"/>
            <a:ext cx="3291840" cy="548640"/>
          </a:xfrm>
          <a:prstGeom prst="rect">
            <a:avLst/>
          </a:prstGeom>
          <a:noFill/>
          <a:ln/>
        </p:spPr>
        <p:txBody>
          <a:bodyPr wrap="square"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Do it in small steps</a:t>
            </a:r>
            <a:endParaRPr lang="en-US" sz="1550" dirty="0"/>
          </a:p>
        </p:txBody>
      </p:sp>
      <p:sp>
        <p:nvSpPr>
          <p:cNvPr id="19" name="Text 17"/>
          <p:cNvSpPr txBox="1"/>
          <p:nvPr/>
        </p:nvSpPr>
        <p:spPr>
          <a:xfrm>
            <a:off x="4572000" y="4160520"/>
            <a:ext cx="7068312" cy="548640"/>
          </a:xfrm>
          <a:prstGeom prst="rect">
            <a:avLst/>
          </a:prstGeom>
          <a:noFill/>
          <a:ln/>
        </p:spPr>
        <p:txBody>
          <a:bodyPr wrap="square" rtlCol="0" anchor="ctr"/>
          <a:lstStyle/>
          <a:p>
            <a:pPr indent="0" marL="0">
              <a:lnSpc>
                <a:spcPct val="100000"/>
              </a:lnSpc>
              <a:buNone/>
            </a:pPr>
            <a:r>
              <a:rPr lang="en-US" sz="1350" dirty="0">
                <a:solidFill>
                  <a:srgbClr val="20242F"/>
                </a:solidFill>
                <a:latin typeface="Calibri" pitchFamily="34" charset="0"/>
                <a:ea typeface="Calibri" pitchFamily="34" charset="-122"/>
                <a:cs typeface="Calibri" pitchFamily="34" charset="-120"/>
              </a:rPr>
              <a:t>One tab at a time, checking against the live workbook as we went.</a:t>
            </a:r>
            <a:endParaRPr lang="en-US" sz="1350" dirty="0"/>
          </a:p>
        </p:txBody>
      </p:sp>
      <p:sp>
        <p:nvSpPr>
          <p:cNvPr id="20" name="Shape 18"/>
          <p:cNvSpPr/>
          <p:nvPr/>
        </p:nvSpPr>
        <p:spPr>
          <a:xfrm>
            <a:off x="548640" y="5065776"/>
            <a:ext cx="457200" cy="457200"/>
          </a:xfrm>
          <a:prstGeom prst="ellipse">
            <a:avLst/>
          </a:prstGeom>
          <a:solidFill>
            <a:srgbClr val="1E2761"/>
          </a:solidFill>
          <a:ln/>
        </p:spPr>
      </p:sp>
      <p:sp>
        <p:nvSpPr>
          <p:cNvPr id="21" name="Text 19"/>
          <p:cNvSpPr txBox="1"/>
          <p:nvPr/>
        </p:nvSpPr>
        <p:spPr>
          <a:xfrm>
            <a:off x="548640" y="5065776"/>
            <a:ext cx="457200" cy="45720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2" name="Text 20"/>
          <p:cNvSpPr txBox="1"/>
          <p:nvPr/>
        </p:nvSpPr>
        <p:spPr>
          <a:xfrm>
            <a:off x="1234440" y="5029200"/>
            <a:ext cx="3291840" cy="548640"/>
          </a:xfrm>
          <a:prstGeom prst="rect">
            <a:avLst/>
          </a:prstGeom>
          <a:noFill/>
          <a:ln/>
        </p:spPr>
        <p:txBody>
          <a:bodyPr wrap="square"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Keep it familiar</a:t>
            </a:r>
            <a:endParaRPr lang="en-US" sz="1550" dirty="0"/>
          </a:p>
        </p:txBody>
      </p:sp>
      <p:sp>
        <p:nvSpPr>
          <p:cNvPr id="23" name="Text 21"/>
          <p:cNvSpPr txBox="1"/>
          <p:nvPr/>
        </p:nvSpPr>
        <p:spPr>
          <a:xfrm>
            <a:off x="4572000" y="5029200"/>
            <a:ext cx="7068312" cy="548640"/>
          </a:xfrm>
          <a:prstGeom prst="rect">
            <a:avLst/>
          </a:prstGeom>
          <a:noFill/>
          <a:ln/>
        </p:spPr>
        <p:txBody>
          <a:bodyPr wrap="square" rtlCol="0" anchor="ctr"/>
          <a:lstStyle/>
          <a:p>
            <a:pPr indent="0" marL="0">
              <a:lnSpc>
                <a:spcPct val="100000"/>
              </a:lnSpc>
              <a:buNone/>
            </a:pPr>
            <a:r>
              <a:rPr lang="en-US" sz="1350" dirty="0">
                <a:solidFill>
                  <a:srgbClr val="20242F"/>
                </a:solidFill>
                <a:latin typeface="Calibri" pitchFamily="34" charset="0"/>
                <a:ea typeface="Calibri" pitchFamily="34" charset="-122"/>
                <a:cs typeface="Calibri" pitchFamily="34" charset="-120"/>
              </a:rPr>
              <a:t>Underwriters still see the same seven sheets, in the same layout.</a:t>
            </a:r>
            <a:endParaRPr lang="en-US" sz="1350" dirty="0"/>
          </a:p>
        </p:txBody>
      </p:sp>
      <p:sp>
        <p:nvSpPr>
          <p:cNvPr id="24" name="Text 2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25" name="Text 2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THE SHAPE OF IT</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How it is put together</a:t>
            </a:r>
            <a:endParaRPr lang="en-US" sz="2800" dirty="0"/>
          </a:p>
        </p:txBody>
      </p:sp>
      <p:sp>
        <p:nvSpPr>
          <p:cNvPr id="4" name="Shape 2"/>
          <p:cNvSpPr/>
          <p:nvPr/>
        </p:nvSpPr>
        <p:spPr>
          <a:xfrm>
            <a:off x="548640" y="1600200"/>
            <a:ext cx="7955280" cy="1005840"/>
          </a:xfrm>
          <a:prstGeom prst="roundRect">
            <a:avLst>
              <a:gd name="adj" fmla="val 7273"/>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5" name="Shape 3"/>
          <p:cNvSpPr/>
          <p:nvPr/>
        </p:nvSpPr>
        <p:spPr>
          <a:xfrm>
            <a:off x="777240" y="2020824"/>
            <a:ext cx="164592" cy="164592"/>
          </a:xfrm>
          <a:prstGeom prst="ellipse">
            <a:avLst/>
          </a:prstGeom>
          <a:solidFill>
            <a:srgbClr val="1E2761"/>
          </a:solidFill>
          <a:ln/>
        </p:spPr>
      </p:sp>
      <p:sp>
        <p:nvSpPr>
          <p:cNvPr id="6" name="Text 4"/>
          <p:cNvSpPr txBox="1"/>
          <p:nvPr/>
        </p:nvSpPr>
        <p:spPr>
          <a:xfrm>
            <a:off x="1097280" y="1728216"/>
            <a:ext cx="722376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Front end</a:t>
            </a:r>
            <a:endParaRPr lang="en-US" sz="1600" dirty="0"/>
          </a:p>
        </p:txBody>
      </p:sp>
      <p:sp>
        <p:nvSpPr>
          <p:cNvPr id="7" name="Text 5"/>
          <p:cNvSpPr txBox="1"/>
          <p:nvPr/>
        </p:nvSpPr>
        <p:spPr>
          <a:xfrm>
            <a:off x="1097280" y="2103120"/>
            <a:ext cx="7178040" cy="411480"/>
          </a:xfrm>
          <a:prstGeom prst="rect">
            <a:avLst/>
          </a:prstGeom>
          <a:noFill/>
          <a:ln/>
        </p:spPr>
        <p:txBody>
          <a:bodyPr wrap="square" rtlCol="0" anchor="ctr"/>
          <a:lstStyle/>
          <a:p>
            <a:pPr indent="0" marL="0">
              <a:lnSpc>
                <a:spcPct val="100000"/>
              </a:lnSpc>
              <a:buNone/>
            </a:pPr>
            <a:r>
              <a:rPr lang="en-US" sz="1250" dirty="0">
                <a:solidFill>
                  <a:srgbClr val="20242F"/>
                </a:solidFill>
                <a:latin typeface="Calibri" pitchFamily="34" charset="0"/>
                <a:ea typeface="Calibri" pitchFamily="34" charset="-122"/>
                <a:cs typeface="Calibri" pitchFamily="34" charset="-120"/>
              </a:rPr>
              <a:t>Angular app in the browser (PrimeNG components). One component per tab.</a:t>
            </a:r>
            <a:endParaRPr lang="en-US" sz="1250" dirty="0"/>
          </a:p>
        </p:txBody>
      </p:sp>
      <p:sp>
        <p:nvSpPr>
          <p:cNvPr id="8" name="Shape 6"/>
          <p:cNvSpPr/>
          <p:nvPr/>
        </p:nvSpPr>
        <p:spPr>
          <a:xfrm>
            <a:off x="4526280" y="2606040"/>
            <a:ext cx="0" cy="274320"/>
          </a:xfrm>
          <a:prstGeom prst="line">
            <a:avLst/>
          </a:prstGeom>
          <a:noFill/>
          <a:ln w="31750">
            <a:solidFill>
              <a:srgbClr val="00A896"/>
            </a:solidFill>
            <a:prstDash val="solid"/>
            <a:headEnd type="triangle"/>
            <a:tailEnd type="triangle"/>
          </a:ln>
        </p:spPr>
      </p:sp>
      <p:sp>
        <p:nvSpPr>
          <p:cNvPr id="9" name="Shape 7"/>
          <p:cNvSpPr/>
          <p:nvPr/>
        </p:nvSpPr>
        <p:spPr>
          <a:xfrm>
            <a:off x="548640" y="2880360"/>
            <a:ext cx="7955280" cy="1005840"/>
          </a:xfrm>
          <a:prstGeom prst="roundRect">
            <a:avLst>
              <a:gd name="adj" fmla="val 7273"/>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10" name="Shape 8"/>
          <p:cNvSpPr/>
          <p:nvPr/>
        </p:nvSpPr>
        <p:spPr>
          <a:xfrm>
            <a:off x="777240" y="3300984"/>
            <a:ext cx="164592" cy="164592"/>
          </a:xfrm>
          <a:prstGeom prst="ellipse">
            <a:avLst/>
          </a:prstGeom>
          <a:solidFill>
            <a:srgbClr val="028090"/>
          </a:solidFill>
          <a:ln/>
        </p:spPr>
      </p:sp>
      <p:sp>
        <p:nvSpPr>
          <p:cNvPr id="11" name="Text 9"/>
          <p:cNvSpPr txBox="1"/>
          <p:nvPr/>
        </p:nvSpPr>
        <p:spPr>
          <a:xfrm>
            <a:off x="1097280" y="3008376"/>
            <a:ext cx="7223760" cy="365760"/>
          </a:xfrm>
          <a:prstGeom prst="rect">
            <a:avLst/>
          </a:prstGeom>
          <a:noFill/>
          <a:ln/>
        </p:spPr>
        <p:txBody>
          <a:bodyPr wrap="square" rtlCol="0" anchor="ctr"/>
          <a:lstStyle/>
          <a:p>
            <a:pPr indent="0" marL="0">
              <a:buNone/>
            </a:pPr>
            <a:r>
              <a:rPr lang="en-US" sz="1600" b="1" dirty="0">
                <a:solidFill>
                  <a:srgbClr val="028090"/>
                </a:solidFill>
                <a:latin typeface="Calibri" pitchFamily="34" charset="0"/>
                <a:ea typeface="Calibri" pitchFamily="34" charset="-122"/>
                <a:cs typeface="Calibri" pitchFamily="34" charset="-120"/>
              </a:rPr>
              <a:t>Middle</a:t>
            </a:r>
            <a:endParaRPr lang="en-US" sz="1600" dirty="0"/>
          </a:p>
        </p:txBody>
      </p:sp>
      <p:sp>
        <p:nvSpPr>
          <p:cNvPr id="12" name="Text 10"/>
          <p:cNvSpPr txBox="1"/>
          <p:nvPr/>
        </p:nvSpPr>
        <p:spPr>
          <a:xfrm>
            <a:off x="1097280" y="3383280"/>
            <a:ext cx="7178040" cy="411480"/>
          </a:xfrm>
          <a:prstGeom prst="rect">
            <a:avLst/>
          </a:prstGeom>
          <a:noFill/>
          <a:ln/>
        </p:spPr>
        <p:txBody>
          <a:bodyPr wrap="square" rtlCol="0" anchor="ctr"/>
          <a:lstStyle/>
          <a:p>
            <a:pPr indent="0" marL="0">
              <a:lnSpc>
                <a:spcPct val="100000"/>
              </a:lnSpc>
              <a:buNone/>
            </a:pPr>
            <a:r>
              <a:rPr lang="en-US" sz="1250" dirty="0">
                <a:solidFill>
                  <a:srgbClr val="20242F"/>
                </a:solidFill>
                <a:latin typeface="Calibri" pitchFamily="34" charset="0"/>
                <a:ea typeface="Calibri" pitchFamily="34" charset="-122"/>
                <a:cs typeface="Calibri" pitchFamily="34" charset="-120"/>
              </a:rPr>
              <a:t>Spring Boot REST API. Controllers hand off to services — and the Excel logic we moved over lives in those services.</a:t>
            </a:r>
            <a:endParaRPr lang="en-US" sz="1250" dirty="0"/>
          </a:p>
        </p:txBody>
      </p:sp>
      <p:sp>
        <p:nvSpPr>
          <p:cNvPr id="13" name="Shape 11"/>
          <p:cNvSpPr/>
          <p:nvPr/>
        </p:nvSpPr>
        <p:spPr>
          <a:xfrm>
            <a:off x="4526280" y="3886200"/>
            <a:ext cx="0" cy="274320"/>
          </a:xfrm>
          <a:prstGeom prst="line">
            <a:avLst/>
          </a:prstGeom>
          <a:noFill/>
          <a:ln w="31750">
            <a:solidFill>
              <a:srgbClr val="00A896"/>
            </a:solidFill>
            <a:prstDash val="solid"/>
            <a:headEnd type="triangle"/>
            <a:tailEnd type="triangle"/>
          </a:ln>
        </p:spPr>
      </p:sp>
      <p:sp>
        <p:nvSpPr>
          <p:cNvPr id="14" name="Shape 12"/>
          <p:cNvSpPr/>
          <p:nvPr/>
        </p:nvSpPr>
        <p:spPr>
          <a:xfrm>
            <a:off x="548640" y="4160520"/>
            <a:ext cx="7955280" cy="1005840"/>
          </a:xfrm>
          <a:prstGeom prst="roundRect">
            <a:avLst>
              <a:gd name="adj" fmla="val 7273"/>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15" name="Shape 13"/>
          <p:cNvSpPr/>
          <p:nvPr/>
        </p:nvSpPr>
        <p:spPr>
          <a:xfrm>
            <a:off x="777240" y="4581144"/>
            <a:ext cx="164592" cy="164592"/>
          </a:xfrm>
          <a:prstGeom prst="ellipse">
            <a:avLst/>
          </a:prstGeom>
          <a:solidFill>
            <a:srgbClr val="1E2761"/>
          </a:solidFill>
          <a:ln/>
        </p:spPr>
      </p:sp>
      <p:sp>
        <p:nvSpPr>
          <p:cNvPr id="16" name="Text 14"/>
          <p:cNvSpPr txBox="1"/>
          <p:nvPr/>
        </p:nvSpPr>
        <p:spPr>
          <a:xfrm>
            <a:off x="1097280" y="4288536"/>
            <a:ext cx="722376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Data</a:t>
            </a:r>
            <a:endParaRPr lang="en-US" sz="1600" dirty="0"/>
          </a:p>
        </p:txBody>
      </p:sp>
      <p:sp>
        <p:nvSpPr>
          <p:cNvPr id="17" name="Text 15"/>
          <p:cNvSpPr txBox="1"/>
          <p:nvPr/>
        </p:nvSpPr>
        <p:spPr>
          <a:xfrm>
            <a:off x="1097280" y="4663440"/>
            <a:ext cx="7178040" cy="411480"/>
          </a:xfrm>
          <a:prstGeom prst="rect">
            <a:avLst/>
          </a:prstGeom>
          <a:noFill/>
          <a:ln/>
        </p:spPr>
        <p:txBody>
          <a:bodyPr wrap="square" rtlCol="0" anchor="ctr"/>
          <a:lstStyle/>
          <a:p>
            <a:pPr indent="0" marL="0">
              <a:lnSpc>
                <a:spcPct val="100000"/>
              </a:lnSpc>
              <a:buNone/>
            </a:pPr>
            <a:r>
              <a:rPr lang="en-US" sz="1250" dirty="0">
                <a:solidFill>
                  <a:srgbClr val="20242F"/>
                </a:solidFill>
                <a:latin typeface="Calibri" pitchFamily="34" charset="0"/>
                <a:ea typeface="Calibri" pitchFamily="34" charset="-122"/>
                <a:cs typeface="Calibri" pitchFamily="34" charset="-120"/>
              </a:rPr>
              <a:t>The same SQL Server database (BBLS), reached through JPA and plain SQL queries.</a:t>
            </a:r>
            <a:endParaRPr lang="en-US" sz="1250" dirty="0"/>
          </a:p>
        </p:txBody>
      </p:sp>
      <p:sp>
        <p:nvSpPr>
          <p:cNvPr id="18" name="Shape 16"/>
          <p:cNvSpPr/>
          <p:nvPr/>
        </p:nvSpPr>
        <p:spPr>
          <a:xfrm>
            <a:off x="8778240" y="1600200"/>
            <a:ext cx="2834640" cy="3566160"/>
          </a:xfrm>
          <a:prstGeom prst="roundRect">
            <a:avLst>
              <a:gd name="adj" fmla="val 2581"/>
            </a:avLst>
          </a:prstGeom>
          <a:solidFill>
            <a:srgbClr val="141A3C"/>
          </a:solidFill>
          <a:ln/>
        </p:spPr>
      </p:sp>
      <p:sp>
        <p:nvSpPr>
          <p:cNvPr id="19" name="Text 17"/>
          <p:cNvSpPr txBox="1"/>
          <p:nvPr/>
        </p:nvSpPr>
        <p:spPr>
          <a:xfrm>
            <a:off x="8961120" y="1783080"/>
            <a:ext cx="2468880" cy="365760"/>
          </a:xfrm>
          <a:prstGeom prst="rect">
            <a:avLst/>
          </a:prstGeom>
          <a:noFill/>
          <a:ln/>
        </p:spPr>
        <p:txBody>
          <a:bodyPr wrap="square"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Shared bits</a:t>
            </a:r>
            <a:endParaRPr lang="en-US" sz="1400" dirty="0"/>
          </a:p>
        </p:txBody>
      </p:sp>
      <p:sp>
        <p:nvSpPr>
          <p:cNvPr id="20" name="Text 18"/>
          <p:cNvSpPr txBox="1"/>
          <p:nvPr/>
        </p:nvSpPr>
        <p:spPr>
          <a:xfrm>
            <a:off x="9052560" y="2286000"/>
            <a:ext cx="2377440" cy="2103120"/>
          </a:xfrm>
          <a:prstGeom prst="rect">
            <a:avLst/>
          </a:prstGeom>
          <a:noFill/>
          <a:ln/>
        </p:spPr>
        <p:txBody>
          <a:bodyPr wrap="square" rtlCol="0" anchor="t"/>
          <a:lstStyle/>
          <a:p>
            <a:pPr marL="342900" indent="-342900">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Edit-locking</a:t>
            </a:r>
            <a:endParaRPr lang="en-US" sz="1200" dirty="0"/>
          </a:p>
          <a:p>
            <a:pPr marL="342900" indent="-342900">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Unsaved-change tracking</a:t>
            </a:r>
            <a:endParaRPr lang="en-US" sz="1200" dirty="0"/>
          </a:p>
          <a:p>
            <a:pPr marL="342900" indent="-342900">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Field rename</a:t>
            </a:r>
            <a:endParaRPr lang="en-US" sz="1200" dirty="0"/>
          </a:p>
          <a:p>
            <a:pPr marL="342900" indent="-342900">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PDF generation</a:t>
            </a:r>
            <a:endParaRPr lang="en-US" sz="1200" dirty="0"/>
          </a:p>
          <a:p>
            <a:pPr marL="342900" indent="-342900">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Validation</a:t>
            </a:r>
            <a:endParaRPr lang="en-US" sz="1200" dirty="0"/>
          </a:p>
        </p:txBody>
      </p:sp>
      <p:sp>
        <p:nvSpPr>
          <p:cNvPr id="21" name="Text 19"/>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22" name="Text 20"/>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THE FLOW</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How a request flows through it</a:t>
            </a:r>
            <a:endParaRPr lang="en-US" sz="2800" dirty="0"/>
          </a:p>
        </p:txBody>
      </p:sp>
      <p:sp>
        <p:nvSpPr>
          <p:cNvPr id="4" name="Shape 2"/>
          <p:cNvSpPr/>
          <p:nvPr/>
        </p:nvSpPr>
        <p:spPr>
          <a:xfrm>
            <a:off x="548640" y="2148840"/>
            <a:ext cx="1911096" cy="1325880"/>
          </a:xfrm>
          <a:prstGeom prst="roundRect">
            <a:avLst>
              <a:gd name="adj" fmla="val 6207"/>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5" name="Text 3"/>
          <p:cNvSpPr txBox="1"/>
          <p:nvPr/>
        </p:nvSpPr>
        <p:spPr>
          <a:xfrm>
            <a:off x="685800" y="2514600"/>
            <a:ext cx="1682496" cy="365760"/>
          </a:xfrm>
          <a:prstGeom prst="rect">
            <a:avLst/>
          </a:prstGeom>
          <a:noFill/>
          <a:ln/>
        </p:spPr>
        <p:txBody>
          <a:bodyPr wrap="square"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Browser</a:t>
            </a:r>
            <a:endParaRPr lang="en-US" sz="1450" dirty="0"/>
          </a:p>
        </p:txBody>
      </p:sp>
      <p:sp>
        <p:nvSpPr>
          <p:cNvPr id="6" name="Text 4"/>
          <p:cNvSpPr txBox="1"/>
          <p:nvPr/>
        </p:nvSpPr>
        <p:spPr>
          <a:xfrm>
            <a:off x="685800" y="2880360"/>
            <a:ext cx="1682496" cy="32004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(Angular)</a:t>
            </a:r>
            <a:endParaRPr lang="en-US" sz="1150" dirty="0"/>
          </a:p>
        </p:txBody>
      </p:sp>
      <p:sp>
        <p:nvSpPr>
          <p:cNvPr id="7" name="Shape 5"/>
          <p:cNvSpPr/>
          <p:nvPr/>
        </p:nvSpPr>
        <p:spPr>
          <a:xfrm>
            <a:off x="2487168" y="2811780"/>
            <a:ext cx="329184" cy="0"/>
          </a:xfrm>
          <a:prstGeom prst="line">
            <a:avLst/>
          </a:prstGeom>
          <a:noFill/>
          <a:ln w="31750">
            <a:solidFill>
              <a:srgbClr val="00A896"/>
            </a:solidFill>
            <a:prstDash val="solid"/>
            <a:tailEnd type="triangle"/>
          </a:ln>
        </p:spPr>
      </p:sp>
      <p:sp>
        <p:nvSpPr>
          <p:cNvPr id="8" name="Shape 6"/>
          <p:cNvSpPr/>
          <p:nvPr/>
        </p:nvSpPr>
        <p:spPr>
          <a:xfrm>
            <a:off x="2843784" y="2148840"/>
            <a:ext cx="1911096" cy="1325880"/>
          </a:xfrm>
          <a:prstGeom prst="roundRect">
            <a:avLst>
              <a:gd name="adj" fmla="val 6207"/>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9" name="Text 7"/>
          <p:cNvSpPr txBox="1"/>
          <p:nvPr/>
        </p:nvSpPr>
        <p:spPr>
          <a:xfrm>
            <a:off x="2980944" y="2514600"/>
            <a:ext cx="1682496" cy="365760"/>
          </a:xfrm>
          <a:prstGeom prst="rect">
            <a:avLst/>
          </a:prstGeom>
          <a:noFill/>
          <a:ln/>
        </p:spPr>
        <p:txBody>
          <a:bodyPr wrap="square" rtlCol="0" anchor="ctr"/>
          <a:lstStyle/>
          <a:p>
            <a:pPr algn="ctr" indent="0" marL="0">
              <a:buNone/>
            </a:pPr>
            <a:r>
              <a:rPr lang="en-US" sz="1450" b="1" dirty="0">
                <a:solidFill>
                  <a:srgbClr val="028090"/>
                </a:solidFill>
                <a:latin typeface="Calibri" pitchFamily="34" charset="0"/>
                <a:ea typeface="Calibri" pitchFamily="34" charset="-122"/>
                <a:cs typeface="Calibri" pitchFamily="34" charset="-120"/>
              </a:rPr>
              <a:t>REST</a:t>
            </a:r>
            <a:endParaRPr lang="en-US" sz="1450" dirty="0"/>
          </a:p>
        </p:txBody>
      </p:sp>
      <p:sp>
        <p:nvSpPr>
          <p:cNvPr id="10" name="Text 8"/>
          <p:cNvSpPr txBox="1"/>
          <p:nvPr/>
        </p:nvSpPr>
        <p:spPr>
          <a:xfrm>
            <a:off x="2980944" y="2880360"/>
            <a:ext cx="1682496" cy="32004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Controller</a:t>
            </a:r>
            <a:endParaRPr lang="en-US" sz="1150" dirty="0"/>
          </a:p>
        </p:txBody>
      </p:sp>
      <p:sp>
        <p:nvSpPr>
          <p:cNvPr id="11" name="Shape 9"/>
          <p:cNvSpPr/>
          <p:nvPr/>
        </p:nvSpPr>
        <p:spPr>
          <a:xfrm>
            <a:off x="4782312" y="2811780"/>
            <a:ext cx="329184" cy="0"/>
          </a:xfrm>
          <a:prstGeom prst="line">
            <a:avLst/>
          </a:prstGeom>
          <a:noFill/>
          <a:ln w="31750">
            <a:solidFill>
              <a:srgbClr val="00A896"/>
            </a:solidFill>
            <a:prstDash val="solid"/>
            <a:tailEnd type="triangle"/>
          </a:ln>
        </p:spPr>
      </p:sp>
      <p:sp>
        <p:nvSpPr>
          <p:cNvPr id="12" name="Shape 10"/>
          <p:cNvSpPr/>
          <p:nvPr/>
        </p:nvSpPr>
        <p:spPr>
          <a:xfrm>
            <a:off x="5138928" y="2148840"/>
            <a:ext cx="1911096" cy="1325880"/>
          </a:xfrm>
          <a:prstGeom prst="roundRect">
            <a:avLst>
              <a:gd name="adj" fmla="val 6207"/>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13" name="Text 11"/>
          <p:cNvSpPr txBox="1"/>
          <p:nvPr/>
        </p:nvSpPr>
        <p:spPr>
          <a:xfrm>
            <a:off x="5276088" y="2514600"/>
            <a:ext cx="1682496" cy="365760"/>
          </a:xfrm>
          <a:prstGeom prst="rect">
            <a:avLst/>
          </a:prstGeom>
          <a:noFill/>
          <a:ln/>
        </p:spPr>
        <p:txBody>
          <a:bodyPr wrap="square" rtlCol="0" anchor="ctr"/>
          <a:lstStyle/>
          <a:p>
            <a:pPr algn="ctr" indent="0" marL="0">
              <a:buNone/>
            </a:pPr>
            <a:r>
              <a:rPr lang="en-US" sz="1450" b="1" dirty="0">
                <a:solidFill>
                  <a:srgbClr val="028090"/>
                </a:solidFill>
                <a:latin typeface="Calibri" pitchFamily="34" charset="0"/>
                <a:ea typeface="Calibri" pitchFamily="34" charset="-122"/>
                <a:cs typeface="Calibri" pitchFamily="34" charset="-120"/>
              </a:rPr>
              <a:t>Service</a:t>
            </a:r>
            <a:endParaRPr lang="en-US" sz="1450" dirty="0"/>
          </a:p>
        </p:txBody>
      </p:sp>
      <p:sp>
        <p:nvSpPr>
          <p:cNvPr id="14" name="Text 12"/>
          <p:cNvSpPr txBox="1"/>
          <p:nvPr/>
        </p:nvSpPr>
        <p:spPr>
          <a:xfrm>
            <a:off x="5276088" y="2880360"/>
            <a:ext cx="1682496" cy="32004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(the logic)</a:t>
            </a:r>
            <a:endParaRPr lang="en-US" sz="1150" dirty="0"/>
          </a:p>
        </p:txBody>
      </p:sp>
      <p:sp>
        <p:nvSpPr>
          <p:cNvPr id="15" name="Shape 13"/>
          <p:cNvSpPr/>
          <p:nvPr/>
        </p:nvSpPr>
        <p:spPr>
          <a:xfrm>
            <a:off x="7077456" y="2811780"/>
            <a:ext cx="329184" cy="0"/>
          </a:xfrm>
          <a:prstGeom prst="line">
            <a:avLst/>
          </a:prstGeom>
          <a:noFill/>
          <a:ln w="31750">
            <a:solidFill>
              <a:srgbClr val="00A896"/>
            </a:solidFill>
            <a:prstDash val="solid"/>
            <a:tailEnd type="triangle"/>
          </a:ln>
        </p:spPr>
      </p:sp>
      <p:sp>
        <p:nvSpPr>
          <p:cNvPr id="16" name="Shape 14"/>
          <p:cNvSpPr/>
          <p:nvPr/>
        </p:nvSpPr>
        <p:spPr>
          <a:xfrm>
            <a:off x="7434072" y="2148840"/>
            <a:ext cx="1911096" cy="1325880"/>
          </a:xfrm>
          <a:prstGeom prst="roundRect">
            <a:avLst>
              <a:gd name="adj" fmla="val 6207"/>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17" name="Text 15"/>
          <p:cNvSpPr txBox="1"/>
          <p:nvPr/>
        </p:nvSpPr>
        <p:spPr>
          <a:xfrm>
            <a:off x="7571232" y="2514600"/>
            <a:ext cx="1682496" cy="365760"/>
          </a:xfrm>
          <a:prstGeom prst="rect">
            <a:avLst/>
          </a:prstGeom>
          <a:noFill/>
          <a:ln/>
        </p:spPr>
        <p:txBody>
          <a:bodyPr wrap="square" rtlCol="0" anchor="ctr"/>
          <a:lstStyle/>
          <a:p>
            <a:pPr algn="ctr" indent="0" marL="0">
              <a:buNone/>
            </a:pPr>
            <a:r>
              <a:rPr lang="en-US" sz="1450" b="1" dirty="0">
                <a:solidFill>
                  <a:srgbClr val="028090"/>
                </a:solidFill>
                <a:latin typeface="Calibri" pitchFamily="34" charset="0"/>
                <a:ea typeface="Calibri" pitchFamily="34" charset="-122"/>
                <a:cs typeface="Calibri" pitchFamily="34" charset="-120"/>
              </a:rPr>
              <a:t>Repository</a:t>
            </a:r>
            <a:endParaRPr lang="en-US" sz="1450" dirty="0"/>
          </a:p>
        </p:txBody>
      </p:sp>
      <p:sp>
        <p:nvSpPr>
          <p:cNvPr id="18" name="Text 16"/>
          <p:cNvSpPr txBox="1"/>
          <p:nvPr/>
        </p:nvSpPr>
        <p:spPr>
          <a:xfrm>
            <a:off x="7571232" y="2880360"/>
            <a:ext cx="1682496" cy="32004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(JPA)</a:t>
            </a:r>
            <a:endParaRPr lang="en-US" sz="1150" dirty="0"/>
          </a:p>
        </p:txBody>
      </p:sp>
      <p:sp>
        <p:nvSpPr>
          <p:cNvPr id="19" name="Shape 17"/>
          <p:cNvSpPr/>
          <p:nvPr/>
        </p:nvSpPr>
        <p:spPr>
          <a:xfrm>
            <a:off x="9372600" y="2811780"/>
            <a:ext cx="329184" cy="0"/>
          </a:xfrm>
          <a:prstGeom prst="line">
            <a:avLst/>
          </a:prstGeom>
          <a:noFill/>
          <a:ln w="31750">
            <a:solidFill>
              <a:srgbClr val="00A896"/>
            </a:solidFill>
            <a:prstDash val="solid"/>
            <a:tailEnd type="triangle"/>
          </a:ln>
        </p:spPr>
      </p:sp>
      <p:sp>
        <p:nvSpPr>
          <p:cNvPr id="20" name="Shape 18"/>
          <p:cNvSpPr/>
          <p:nvPr/>
        </p:nvSpPr>
        <p:spPr>
          <a:xfrm>
            <a:off x="9729216" y="2148840"/>
            <a:ext cx="1911096" cy="1325880"/>
          </a:xfrm>
          <a:prstGeom prst="roundRect">
            <a:avLst>
              <a:gd name="adj" fmla="val 6207"/>
            </a:avLst>
          </a:prstGeom>
          <a:solidFill>
            <a:srgbClr val="FFFFFF"/>
          </a:solidFill>
          <a:ln w="12700">
            <a:solidFill>
              <a:srgbClr val="D4DBE8"/>
            </a:solidFill>
            <a:prstDash val="solid"/>
          </a:ln>
          <a:effectLst>
            <a:outerShdw sx="100000" sy="100000" kx="0" ky="0" algn="bl" rotWithShape="0" blurRad="63500" dist="25400" dir="5400000">
              <a:srgbClr val="A9B4C6">
                <a:alpha val="30000"/>
              </a:srgbClr>
            </a:outerShdw>
          </a:effectLst>
        </p:spPr>
      </p:sp>
      <p:sp>
        <p:nvSpPr>
          <p:cNvPr id="21" name="Text 19"/>
          <p:cNvSpPr txBox="1"/>
          <p:nvPr/>
        </p:nvSpPr>
        <p:spPr>
          <a:xfrm>
            <a:off x="9866376" y="2514600"/>
            <a:ext cx="1682496" cy="365760"/>
          </a:xfrm>
          <a:prstGeom prst="rect">
            <a:avLst/>
          </a:prstGeom>
          <a:noFill/>
          <a:ln/>
        </p:spPr>
        <p:txBody>
          <a:bodyPr wrap="square"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SQL Server</a:t>
            </a:r>
            <a:endParaRPr lang="en-US" sz="1450" dirty="0"/>
          </a:p>
        </p:txBody>
      </p:sp>
      <p:sp>
        <p:nvSpPr>
          <p:cNvPr id="22" name="Text 20"/>
          <p:cNvSpPr txBox="1"/>
          <p:nvPr/>
        </p:nvSpPr>
        <p:spPr>
          <a:xfrm>
            <a:off x="9866376" y="2880360"/>
            <a:ext cx="1682496" cy="320040"/>
          </a:xfrm>
          <a:prstGeom prst="rect">
            <a:avLst/>
          </a:prstGeom>
          <a:noFill/>
          <a:ln/>
        </p:spPr>
        <p:txBody>
          <a:bodyPr wrap="square" rtlCol="0" anchor="ctr"/>
          <a:lstStyle/>
          <a:p>
            <a:pPr algn="ctr" indent="0" marL="0">
              <a:buNone/>
            </a:pPr>
            <a:r>
              <a:rPr lang="en-US" sz="1150" dirty="0">
                <a:solidFill>
                  <a:srgbClr val="5B6472"/>
                </a:solidFill>
                <a:latin typeface="Calibri" pitchFamily="34" charset="0"/>
                <a:ea typeface="Calibri" pitchFamily="34" charset="-122"/>
                <a:cs typeface="Calibri" pitchFamily="34" charset="-120"/>
              </a:rPr>
              <a:t>(BBLS)</a:t>
            </a:r>
            <a:endParaRPr lang="en-US" sz="1150" dirty="0"/>
          </a:p>
        </p:txBody>
      </p:sp>
      <p:sp>
        <p:nvSpPr>
          <p:cNvPr id="23" name="Shape 21"/>
          <p:cNvSpPr/>
          <p:nvPr/>
        </p:nvSpPr>
        <p:spPr>
          <a:xfrm>
            <a:off x="10684764" y="3474720"/>
            <a:ext cx="0" cy="685800"/>
          </a:xfrm>
          <a:prstGeom prst="line">
            <a:avLst/>
          </a:prstGeom>
          <a:noFill/>
          <a:ln w="25400">
            <a:solidFill>
              <a:srgbClr val="1E2761"/>
            </a:solidFill>
            <a:prstDash val="solid"/>
          </a:ln>
        </p:spPr>
      </p:sp>
      <p:sp>
        <p:nvSpPr>
          <p:cNvPr id="24" name="Shape 22"/>
          <p:cNvSpPr/>
          <p:nvPr/>
        </p:nvSpPr>
        <p:spPr>
          <a:xfrm>
            <a:off x="1504188" y="3474720"/>
            <a:ext cx="0" cy="685800"/>
          </a:xfrm>
          <a:prstGeom prst="line">
            <a:avLst/>
          </a:prstGeom>
          <a:noFill/>
          <a:ln w="25400">
            <a:solidFill>
              <a:srgbClr val="1E2761"/>
            </a:solidFill>
            <a:prstDash val="solid"/>
          </a:ln>
        </p:spPr>
      </p:sp>
      <p:sp>
        <p:nvSpPr>
          <p:cNvPr id="25" name="Shape 23"/>
          <p:cNvSpPr/>
          <p:nvPr/>
        </p:nvSpPr>
        <p:spPr>
          <a:xfrm>
            <a:off x="1504188" y="4160520"/>
            <a:ext cx="9180576" cy="0"/>
          </a:xfrm>
          <a:prstGeom prst="line">
            <a:avLst/>
          </a:prstGeom>
          <a:noFill/>
          <a:ln w="25400">
            <a:solidFill>
              <a:srgbClr val="1E2761"/>
            </a:solidFill>
            <a:prstDash val="solid"/>
            <a:headEnd type="triangle"/>
          </a:ln>
        </p:spPr>
      </p:sp>
      <p:sp>
        <p:nvSpPr>
          <p:cNvPr id="26" name="Text 24"/>
          <p:cNvSpPr txBox="1"/>
          <p:nvPr/>
        </p:nvSpPr>
        <p:spPr>
          <a:xfrm>
            <a:off x="1504188" y="4251960"/>
            <a:ext cx="9180576" cy="365760"/>
          </a:xfrm>
          <a:prstGeom prst="rect">
            <a:avLst/>
          </a:prstGeom>
          <a:noFill/>
          <a:ln/>
        </p:spPr>
        <p:txBody>
          <a:bodyPr wrap="square"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Response comes back as JSON  →  turned into what the tab shows  →  shown on screen</a:t>
            </a:r>
            <a:endParaRPr lang="en-US" sz="1150" dirty="0"/>
          </a:p>
        </p:txBody>
      </p:sp>
      <p:sp>
        <p:nvSpPr>
          <p:cNvPr id="27" name="Text 25"/>
          <p:cNvSpPr txBox="1"/>
          <p:nvPr/>
        </p:nvSpPr>
        <p:spPr>
          <a:xfrm>
            <a:off x="548640" y="4846320"/>
            <a:ext cx="11091672" cy="365760"/>
          </a:xfrm>
          <a:prstGeom prst="rect">
            <a:avLst/>
          </a:prstGeom>
          <a:noFill/>
          <a:ln/>
        </p:spPr>
        <p:txBody>
          <a:bodyPr wrap="square" rtlCol="0" anchor="ctr"/>
          <a:lstStyle/>
          <a:p>
            <a:pPr indent="0" marL="0">
              <a:buNone/>
            </a:pPr>
            <a:r>
              <a:rPr lang="en-US" sz="1250" i="1" dirty="0">
                <a:solidFill>
                  <a:srgbClr val="5B6472"/>
                </a:solidFill>
                <a:latin typeface="Calibri" pitchFamily="34" charset="0"/>
                <a:ea typeface="Calibri" pitchFamily="34" charset="-122"/>
                <a:cs typeface="Calibri" pitchFamily="34" charset="-120"/>
              </a:rPr>
              <a:t>Editing adds one step: the tab takes a lock first, and the save (PUT) carries that lock back to the service.</a:t>
            </a:r>
            <a:endParaRPr lang="en-US" sz="1250" dirty="0"/>
          </a:p>
        </p:txBody>
      </p:sp>
      <p:sp>
        <p:nvSpPr>
          <p:cNvPr id="28" name="Text 26"/>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29" name="Text 27"/>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INSIDE THE FRONT END</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How a tab works</a:t>
            </a:r>
            <a:endParaRPr lang="en-US" sz="2800" dirty="0"/>
          </a:p>
        </p:txBody>
      </p:sp>
      <p:sp>
        <p:nvSpPr>
          <p:cNvPr id="4" name="Text 2"/>
          <p:cNvSpPr txBox="1"/>
          <p:nvPr/>
        </p:nvSpPr>
        <p:spPr>
          <a:xfrm>
            <a:off x="548640" y="1508760"/>
            <a:ext cx="10972800" cy="2834640"/>
          </a:xfrm>
          <a:prstGeom prst="rect">
            <a:avLst/>
          </a:prstGeom>
          <a:noFill/>
          <a:ln/>
        </p:spPr>
        <p:txBody>
          <a:bodyPr wrap="square" rtlCol="0" anchor="t"/>
          <a:lstStyle/>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Each tab is its own component. It loads its data, maps it, lets you edit, validates, and saves — all on its own.</a:t>
            </a:r>
            <a:endParaRPr lang="en-US" sz="1400" dirty="0"/>
          </a:p>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Loading turns the API’s JSON into the shape the screen uses (yearlyData[date][section][field]); saving turns it back, keeping the fields in the right order.</a:t>
            </a:r>
            <a:endParaRPr lang="en-US" sz="1400" dirty="0"/>
          </a:p>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A few shared services do the heavy lifting: the lock service, an "unsaved changes" tracker, and a field-rename helper.</a:t>
            </a:r>
            <a:endParaRPr lang="en-US" sz="1400" dirty="0"/>
          </a:p>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We use Angular’s OnPush mode for speed, so we tell it when to re-check the screen; ViewChild connects the PDF export.</a:t>
            </a:r>
            <a:endParaRPr lang="en-US" sz="1400" dirty="0"/>
          </a:p>
        </p:txBody>
      </p:sp>
      <p:sp>
        <p:nvSpPr>
          <p:cNvPr id="5" name="Shape 3"/>
          <p:cNvSpPr/>
          <p:nvPr/>
        </p:nvSpPr>
        <p:spPr>
          <a:xfrm>
            <a:off x="548640" y="4617720"/>
            <a:ext cx="11064240" cy="475488"/>
          </a:xfrm>
          <a:prstGeom prst="roundRect">
            <a:avLst>
              <a:gd name="adj" fmla="val 9615"/>
            </a:avLst>
          </a:prstGeom>
          <a:solidFill>
            <a:srgbClr val="EAEFF7"/>
          </a:solidFill>
          <a:ln w="9525">
            <a:solidFill>
              <a:srgbClr val="D4DBE8"/>
            </a:solidFill>
            <a:prstDash val="solid"/>
          </a:ln>
        </p:spPr>
      </p:sp>
      <p:sp>
        <p:nvSpPr>
          <p:cNvPr id="6" name="Text 4"/>
          <p:cNvSpPr txBox="1"/>
          <p:nvPr/>
        </p:nvSpPr>
        <p:spPr>
          <a:xfrm>
            <a:off x="694944" y="464515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mapJSONToComponent(data)  -&gt;  yearlyData[dateKey][section][field]      // saving: buildUpdatedJSON()</a:t>
            </a:r>
            <a:endParaRPr lang="en-US" sz="1050" dirty="0"/>
          </a:p>
        </p:txBody>
      </p:sp>
      <p:sp>
        <p:nvSpPr>
          <p:cNvPr id="7" name="Text 5"/>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8" name="Text 6"/>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INSIDE THE BACK END</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Controllers, services, database</a:t>
            </a:r>
            <a:endParaRPr lang="en-US" sz="2800" dirty="0"/>
          </a:p>
        </p:txBody>
      </p:sp>
      <p:sp>
        <p:nvSpPr>
          <p:cNvPr id="4" name="Text 2"/>
          <p:cNvSpPr txBox="1"/>
          <p:nvPr/>
        </p:nvSpPr>
        <p:spPr>
          <a:xfrm>
            <a:off x="548640" y="1508760"/>
            <a:ext cx="10972800" cy="2834640"/>
          </a:xfrm>
          <a:prstGeom prst="rect">
            <a:avLst/>
          </a:prstGeom>
          <a:noFill/>
          <a:ln/>
        </p:spPr>
        <p:txBody>
          <a:bodyPr wrap="square" rtlCol="0" anchor="t"/>
          <a:lstStyle/>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Controllers are thin — they just pass the request to a service.</a:t>
            </a:r>
            <a:endParaRPr lang="en-US" sz="1400" dirty="0"/>
          </a:p>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The services hold the real logic (the stuff that used to be in Excel). That is the one place we check the numbers match.</a:t>
            </a:r>
            <a:endParaRPr lang="en-US" sz="1400" dirty="0"/>
          </a:p>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The database layer uses Spring Data JPA with a lot of hand-written SQL, because the old tables are big and a bit unusual.</a:t>
            </a:r>
            <a:endParaRPr lang="en-US" sz="1400" dirty="0"/>
          </a:p>
          <a:p>
            <a:pPr marL="342900" indent="-342900">
              <a:lnSpc>
                <a:spcPct val="105000"/>
              </a:lnSpc>
              <a:spcAft>
                <a:spcPts val="700"/>
              </a:spcAft>
              <a:buSzPct val="100000"/>
              <a:buChar char="•"/>
            </a:pPr>
            <a:r>
              <a:rPr lang="en-US" sz="1400" dirty="0">
                <a:solidFill>
                  <a:srgbClr val="20242F"/>
                </a:solidFill>
                <a:latin typeface="Calibri" pitchFamily="34" charset="0"/>
                <a:ea typeface="Calibri" pitchFamily="34" charset="-122"/>
                <a:cs typeface="Calibri" pitchFamily="34" charset="-120"/>
              </a:rPr>
              <a:t>Everything sits under com.cinfin.suretynl and reads/writes the same BBLS tables the workbook used.</a:t>
            </a:r>
            <a:endParaRPr lang="en-US" sz="1400" dirty="0"/>
          </a:p>
        </p:txBody>
      </p:sp>
      <p:sp>
        <p:nvSpPr>
          <p:cNvPr id="5" name="Shape 3"/>
          <p:cNvSpPr/>
          <p:nvPr/>
        </p:nvSpPr>
        <p:spPr>
          <a:xfrm>
            <a:off x="548640" y="4617720"/>
            <a:ext cx="11064240" cy="475488"/>
          </a:xfrm>
          <a:prstGeom prst="roundRect">
            <a:avLst>
              <a:gd name="adj" fmla="val 9615"/>
            </a:avLst>
          </a:prstGeom>
          <a:solidFill>
            <a:srgbClr val="EAEFF7"/>
          </a:solidFill>
          <a:ln w="9525">
            <a:solidFill>
              <a:srgbClr val="D4DBE8"/>
            </a:solidFill>
            <a:prstDash val="solid"/>
          </a:ln>
        </p:spPr>
      </p:sp>
      <p:sp>
        <p:nvSpPr>
          <p:cNvPr id="6" name="Text 4"/>
          <p:cNvSpPr txBox="1"/>
          <p:nvPr/>
        </p:nvSpPr>
        <p:spPr>
          <a:xfrm>
            <a:off x="694944" y="464515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@Query(nativeQuery=true)  SELECT ... FROM tblPrincipal WHERE ContractorsID = :contractorId</a:t>
            </a:r>
            <a:endParaRPr lang="en-US" sz="1050" dirty="0"/>
          </a:p>
        </p:txBody>
      </p:sp>
      <p:sp>
        <p:nvSpPr>
          <p:cNvPr id="7" name="Text 5"/>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8" name="Text 6"/>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GETTING THE MATH RIGHT</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Making the numbers match</a:t>
            </a:r>
            <a:endParaRPr lang="en-US" sz="2800" dirty="0"/>
          </a:p>
        </p:txBody>
      </p:sp>
      <p:sp>
        <p:nvSpPr>
          <p:cNvPr id="4" name="Shape 2"/>
          <p:cNvSpPr/>
          <p:nvPr/>
        </p:nvSpPr>
        <p:spPr>
          <a:xfrm>
            <a:off x="548640" y="1508760"/>
            <a:ext cx="5486400" cy="2743200"/>
          </a:xfrm>
          <a:prstGeom prst="roundRect">
            <a:avLst>
              <a:gd name="adj" fmla="val 3000"/>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5" name="Shape 3"/>
          <p:cNvSpPr/>
          <p:nvPr/>
        </p:nvSpPr>
        <p:spPr>
          <a:xfrm>
            <a:off x="804672" y="1792224"/>
            <a:ext cx="118872" cy="118872"/>
          </a:xfrm>
          <a:prstGeom prst="ellipse">
            <a:avLst/>
          </a:prstGeom>
          <a:solidFill>
            <a:srgbClr val="B5651D"/>
          </a:solidFill>
          <a:ln/>
        </p:spPr>
      </p:sp>
      <p:sp>
        <p:nvSpPr>
          <p:cNvPr id="6" name="Text 4"/>
          <p:cNvSpPr txBox="1"/>
          <p:nvPr/>
        </p:nvSpPr>
        <p:spPr>
          <a:xfrm>
            <a:off x="1005840" y="1664208"/>
            <a:ext cx="484632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Where it got tricky</a:t>
            </a:r>
            <a:endParaRPr lang="en-US" sz="1450" dirty="0"/>
          </a:p>
        </p:txBody>
      </p:sp>
      <p:sp>
        <p:nvSpPr>
          <p:cNvPr id="7" name="Text 5"/>
          <p:cNvSpPr txBox="1"/>
          <p:nvPr/>
        </p:nvSpPr>
        <p:spPr>
          <a:xfrm>
            <a:off x="859536" y="2112264"/>
            <a:ext cx="4937760" cy="201168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Formulas became service methods, and "recalc on open" became "recalc when you open the tab".</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Interim ratios divide by days-so-far-in-the-year, not a flat 365.</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Some ratios are worked out on the server more exactly — we must not replace them with a rougher value from the browser.</a:t>
            </a:r>
            <a:endParaRPr lang="en-US" sz="1200" dirty="0"/>
          </a:p>
        </p:txBody>
      </p:sp>
      <p:sp>
        <p:nvSpPr>
          <p:cNvPr id="8" name="Shape 6"/>
          <p:cNvSpPr/>
          <p:nvPr/>
        </p:nvSpPr>
        <p:spPr>
          <a:xfrm>
            <a:off x="6217920" y="1508760"/>
            <a:ext cx="5394960" cy="2743200"/>
          </a:xfrm>
          <a:prstGeom prst="roundRect">
            <a:avLst>
              <a:gd name="adj" fmla="val 3000"/>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9" name="Shape 7"/>
          <p:cNvSpPr/>
          <p:nvPr/>
        </p:nvSpPr>
        <p:spPr>
          <a:xfrm>
            <a:off x="6473952" y="1792224"/>
            <a:ext cx="118872" cy="118872"/>
          </a:xfrm>
          <a:prstGeom prst="ellipse">
            <a:avLst/>
          </a:prstGeom>
          <a:solidFill>
            <a:srgbClr val="00A896"/>
          </a:solidFill>
          <a:ln/>
        </p:spPr>
      </p:sp>
      <p:sp>
        <p:nvSpPr>
          <p:cNvPr id="10" name="Text 8"/>
          <p:cNvSpPr txBox="1"/>
          <p:nvPr/>
        </p:nvSpPr>
        <p:spPr>
          <a:xfrm>
            <a:off x="6675120" y="1664208"/>
            <a:ext cx="475488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How we kept it right</a:t>
            </a:r>
            <a:endParaRPr lang="en-US" sz="1450" dirty="0"/>
          </a:p>
        </p:txBody>
      </p:sp>
      <p:sp>
        <p:nvSpPr>
          <p:cNvPr id="11" name="Text 9"/>
          <p:cNvSpPr txBox="1"/>
          <p:nvPr/>
        </p:nvSpPr>
        <p:spPr>
          <a:xfrm>
            <a:off x="6528816" y="2112264"/>
            <a:ext cx="4846320" cy="201168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We split the work: the browser re-adds the simple totals but keeps the exact ratios from the server.</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On load we only re-add the simple totals, so the server values stay.</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We check the numbers against saved examples, not by eye.</a:t>
            </a:r>
            <a:endParaRPr lang="en-US" sz="1200" dirty="0"/>
          </a:p>
        </p:txBody>
      </p:sp>
      <p:sp>
        <p:nvSpPr>
          <p:cNvPr id="12" name="Shape 10"/>
          <p:cNvSpPr/>
          <p:nvPr/>
        </p:nvSpPr>
        <p:spPr>
          <a:xfrm>
            <a:off x="548640" y="4480560"/>
            <a:ext cx="11064240" cy="475488"/>
          </a:xfrm>
          <a:prstGeom prst="roundRect">
            <a:avLst>
              <a:gd name="adj" fmla="val 9615"/>
            </a:avLst>
          </a:prstGeom>
          <a:solidFill>
            <a:srgbClr val="EAEFF7"/>
          </a:solidFill>
          <a:ln w="9525">
            <a:solidFill>
              <a:srgbClr val="D4DBE8"/>
            </a:solidFill>
            <a:prstDash val="solid"/>
          </a:ln>
        </p:spPr>
      </p:sp>
      <p:sp>
        <p:nvSpPr>
          <p:cNvPr id="13" name="Text 11"/>
          <p:cNvSpPr txBox="1"/>
          <p:nvPr/>
        </p:nvSpPr>
        <p:spPr>
          <a:xfrm>
            <a:off x="694944" y="450799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daysInPeriod = floor((FYE - startOfYear) / oneDay);   acctRecTurnDays = (acctRec * 365) / revenue</a:t>
            </a:r>
            <a:endParaRPr lang="en-US" sz="1050" dirty="0"/>
          </a:p>
        </p:txBody>
      </p:sp>
      <p:sp>
        <p:nvSpPr>
          <p:cNvPr id="14" name="Text 1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5" name="Text 1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THE TRICKY ONE</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Hidden and optional fields</a:t>
            </a:r>
            <a:endParaRPr lang="en-US" sz="2800" dirty="0"/>
          </a:p>
        </p:txBody>
      </p:sp>
      <p:sp>
        <p:nvSpPr>
          <p:cNvPr id="4" name="Shape 2"/>
          <p:cNvSpPr/>
          <p:nvPr/>
        </p:nvSpPr>
        <p:spPr>
          <a:xfrm>
            <a:off x="548640" y="1463040"/>
            <a:ext cx="5486400" cy="3017520"/>
          </a:xfrm>
          <a:prstGeom prst="roundRect">
            <a:avLst>
              <a:gd name="adj" fmla="val 2727"/>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5" name="Shape 3"/>
          <p:cNvSpPr/>
          <p:nvPr/>
        </p:nvSpPr>
        <p:spPr>
          <a:xfrm>
            <a:off x="804672" y="1746504"/>
            <a:ext cx="118872" cy="118872"/>
          </a:xfrm>
          <a:prstGeom prst="ellipse">
            <a:avLst/>
          </a:prstGeom>
          <a:solidFill>
            <a:srgbClr val="B5651D"/>
          </a:solidFill>
          <a:ln/>
        </p:spPr>
      </p:sp>
      <p:sp>
        <p:nvSpPr>
          <p:cNvPr id="6" name="Text 4"/>
          <p:cNvSpPr txBox="1"/>
          <p:nvPr/>
        </p:nvSpPr>
        <p:spPr>
          <a:xfrm>
            <a:off x="1005840" y="1618488"/>
            <a:ext cx="484632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Why it was hard</a:t>
            </a:r>
            <a:endParaRPr lang="en-US" sz="1450" dirty="0"/>
          </a:p>
        </p:txBody>
      </p:sp>
      <p:sp>
        <p:nvSpPr>
          <p:cNvPr id="7" name="Text 5"/>
          <p:cNvSpPr txBox="1"/>
          <p:nvPr/>
        </p:nvSpPr>
        <p:spPr>
          <a:xfrm>
            <a:off x="859536" y="2066544"/>
            <a:ext cx="4937760" cy="228600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Some rows in Excel were optional and usually hidden — extra Income Statement rows (74–78), Revenue rows (67–71), surplus add-lines — blank unless someone used them, and you could type your own name.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A row had no fixed id — it was really just "the row in that spot", the name could change, and each row could have a comment.</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And it all still had to save back to a backend that expects fixed slots.</a:t>
            </a:r>
            <a:endParaRPr lang="en-US" sz="1200" dirty="0"/>
          </a:p>
        </p:txBody>
      </p:sp>
      <p:sp>
        <p:nvSpPr>
          <p:cNvPr id="8" name="Shape 6"/>
          <p:cNvSpPr/>
          <p:nvPr/>
        </p:nvSpPr>
        <p:spPr>
          <a:xfrm>
            <a:off x="6217920" y="1463040"/>
            <a:ext cx="5394960" cy="3017520"/>
          </a:xfrm>
          <a:prstGeom prst="roundRect">
            <a:avLst>
              <a:gd name="adj" fmla="val 2727"/>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9" name="Shape 7"/>
          <p:cNvSpPr/>
          <p:nvPr/>
        </p:nvSpPr>
        <p:spPr>
          <a:xfrm>
            <a:off x="6473952" y="1746504"/>
            <a:ext cx="118872" cy="118872"/>
          </a:xfrm>
          <a:prstGeom prst="ellipse">
            <a:avLst/>
          </a:prstGeom>
          <a:solidFill>
            <a:srgbClr val="00A896"/>
          </a:solidFill>
          <a:ln/>
        </p:spPr>
      </p:sp>
      <p:sp>
        <p:nvSpPr>
          <p:cNvPr id="10" name="Text 8"/>
          <p:cNvSpPr txBox="1"/>
          <p:nvPr/>
        </p:nvSpPr>
        <p:spPr>
          <a:xfrm>
            <a:off x="6675120" y="1618488"/>
            <a:ext cx="475488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How we handled it</a:t>
            </a:r>
            <a:endParaRPr lang="en-US" sz="1450" dirty="0"/>
          </a:p>
        </p:txBody>
      </p:sp>
      <p:sp>
        <p:nvSpPr>
          <p:cNvPr id="11" name="Text 9"/>
          <p:cNvSpPr txBox="1"/>
          <p:nvPr/>
        </p:nvSpPr>
        <p:spPr>
          <a:xfrm>
            <a:off x="6528816" y="2066544"/>
            <a:ext cx="4846320" cy="228600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We gave those optional rows reserved slot numbers (OPT_ROW_MAP).</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Each field carries its slot in the key (like name_75) so it saves and loads back cleanly; you can rename it without moving the row, and it keeps the value and the comment.</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After an add or rename we rebuild the comment links, and we cap how many rows each section allows, just like the sheet.</a:t>
            </a:r>
            <a:endParaRPr lang="en-US" sz="1200" dirty="0"/>
          </a:p>
        </p:txBody>
      </p:sp>
      <p:sp>
        <p:nvSpPr>
          <p:cNvPr id="12" name="Shape 10"/>
          <p:cNvSpPr/>
          <p:nvPr/>
        </p:nvSpPr>
        <p:spPr>
          <a:xfrm>
            <a:off x="548640" y="4663440"/>
            <a:ext cx="11064240" cy="475488"/>
          </a:xfrm>
          <a:prstGeom prst="roundRect">
            <a:avLst>
              <a:gd name="adj" fmla="val 9615"/>
            </a:avLst>
          </a:prstGeom>
          <a:solidFill>
            <a:srgbClr val="EAEFF7"/>
          </a:solidFill>
          <a:ln w="9525">
            <a:solidFill>
              <a:srgbClr val="D4DBE8"/>
            </a:solidFill>
            <a:prstDash val="solid"/>
          </a:ln>
        </p:spPr>
      </p:sp>
      <p:sp>
        <p:nvSpPr>
          <p:cNvPr id="13" name="Text 11"/>
          <p:cNvSpPr txBox="1"/>
          <p:nvPr/>
        </p:nvSpPr>
        <p:spPr>
          <a:xfrm>
            <a:off x="694944" y="469087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OPT_ROW_MAP['incomeStatement'] = { rows:[74,75,76,77,78], fixed:[...] }    // 'Other Income_74' -&gt; reserved slot</a:t>
            </a:r>
            <a:endParaRPr lang="en-US" sz="1050" dirty="0"/>
          </a:p>
        </p:txBody>
      </p:sp>
      <p:sp>
        <p:nvSpPr>
          <p:cNvPr id="14" name="Text 1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5" name="Text 1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A DATA SURPRISE</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Duplicate rows in the old data</a:t>
            </a:r>
            <a:endParaRPr lang="en-US" sz="2800" dirty="0"/>
          </a:p>
        </p:txBody>
      </p:sp>
      <p:sp>
        <p:nvSpPr>
          <p:cNvPr id="4" name="Shape 2"/>
          <p:cNvSpPr/>
          <p:nvPr/>
        </p:nvSpPr>
        <p:spPr>
          <a:xfrm>
            <a:off x="548640" y="1463040"/>
            <a:ext cx="5486400" cy="2834640"/>
          </a:xfrm>
          <a:prstGeom prst="roundRect">
            <a:avLst>
              <a:gd name="adj" fmla="val 2903"/>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5" name="Shape 3"/>
          <p:cNvSpPr/>
          <p:nvPr/>
        </p:nvSpPr>
        <p:spPr>
          <a:xfrm>
            <a:off x="804672" y="1746504"/>
            <a:ext cx="118872" cy="118872"/>
          </a:xfrm>
          <a:prstGeom prst="ellipse">
            <a:avLst/>
          </a:prstGeom>
          <a:solidFill>
            <a:srgbClr val="B5651D"/>
          </a:solidFill>
          <a:ln/>
        </p:spPr>
      </p:sp>
      <p:sp>
        <p:nvSpPr>
          <p:cNvPr id="6" name="Text 4"/>
          <p:cNvSpPr txBox="1"/>
          <p:nvPr/>
        </p:nvSpPr>
        <p:spPr>
          <a:xfrm>
            <a:off x="1005840" y="1618488"/>
            <a:ext cx="484632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we saw</a:t>
            </a:r>
            <a:endParaRPr lang="en-US" sz="1450" dirty="0"/>
          </a:p>
        </p:txBody>
      </p:sp>
      <p:sp>
        <p:nvSpPr>
          <p:cNvPr id="7" name="Text 5"/>
          <p:cNvSpPr txBox="1"/>
          <p:nvPr/>
        </p:nvSpPr>
        <p:spPr>
          <a:xfrm>
            <a:off x="859536" y="2066544"/>
            <a:ext cx="4937760" cy="21031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Random 500 errors on the Summary load and on Main Page save. One contractor (126964) hit it every single time.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The error was basically "expected one row, got more than one".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Turned out tblCredit had duplicate rows for the same account.</a:t>
            </a:r>
            <a:endParaRPr lang="en-US" sz="1200" dirty="0"/>
          </a:p>
        </p:txBody>
      </p:sp>
      <p:sp>
        <p:nvSpPr>
          <p:cNvPr id="8" name="Shape 6"/>
          <p:cNvSpPr/>
          <p:nvPr/>
        </p:nvSpPr>
        <p:spPr>
          <a:xfrm>
            <a:off x="6217920" y="1463040"/>
            <a:ext cx="5394960" cy="2834640"/>
          </a:xfrm>
          <a:prstGeom prst="roundRect">
            <a:avLst>
              <a:gd name="adj" fmla="val 2903"/>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9" name="Shape 7"/>
          <p:cNvSpPr/>
          <p:nvPr/>
        </p:nvSpPr>
        <p:spPr>
          <a:xfrm>
            <a:off x="6473952" y="1746504"/>
            <a:ext cx="118872" cy="118872"/>
          </a:xfrm>
          <a:prstGeom prst="ellipse">
            <a:avLst/>
          </a:prstGeom>
          <a:solidFill>
            <a:srgbClr val="00A896"/>
          </a:solidFill>
          <a:ln/>
        </p:spPr>
      </p:sp>
      <p:sp>
        <p:nvSpPr>
          <p:cNvPr id="10" name="Text 8"/>
          <p:cNvSpPr txBox="1"/>
          <p:nvPr/>
        </p:nvSpPr>
        <p:spPr>
          <a:xfrm>
            <a:off x="6675120" y="1618488"/>
            <a:ext cx="475488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we did</a:t>
            </a:r>
            <a:endParaRPr lang="en-US" sz="1450" dirty="0"/>
          </a:p>
        </p:txBody>
      </p:sp>
      <p:sp>
        <p:nvSpPr>
          <p:cNvPr id="11" name="Text 9"/>
          <p:cNvSpPr txBox="1"/>
          <p:nvPr/>
        </p:nvSpPr>
        <p:spPr>
          <a:xfrm>
            <a:off x="6528816" y="2066544"/>
            <a:ext cx="4846320" cy="21031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Wrote a query to find every account with duplicates, not just the one we noticed.</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Made the lookups cope with duplicates instead of blowing up.</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Cleaned up the bad rows.</a:t>
            </a:r>
            <a:endParaRPr lang="en-US" sz="1200" dirty="0"/>
          </a:p>
        </p:txBody>
      </p:sp>
      <p:sp>
        <p:nvSpPr>
          <p:cNvPr id="12" name="Shape 10"/>
          <p:cNvSpPr/>
          <p:nvPr/>
        </p:nvSpPr>
        <p:spPr>
          <a:xfrm>
            <a:off x="548640" y="4572000"/>
            <a:ext cx="11064240" cy="475488"/>
          </a:xfrm>
          <a:prstGeom prst="roundRect">
            <a:avLst>
              <a:gd name="adj" fmla="val 9615"/>
            </a:avLst>
          </a:prstGeom>
          <a:solidFill>
            <a:srgbClr val="EAEFF7"/>
          </a:solidFill>
          <a:ln w="9525">
            <a:solidFill>
              <a:srgbClr val="D4DBE8"/>
            </a:solidFill>
            <a:prstDash val="solid"/>
          </a:ln>
        </p:spPr>
      </p:sp>
      <p:sp>
        <p:nvSpPr>
          <p:cNvPr id="13" name="Text 11"/>
          <p:cNvSpPr txBox="1"/>
          <p:nvPr/>
        </p:nvSpPr>
        <p:spPr>
          <a:xfrm>
            <a:off x="694944" y="459943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SELECT PrincipalID, COUNT(*) FROM tblCredit GROUP BY PrincipalID HAVING COUNT(*) &gt; 1</a:t>
            </a:r>
            <a:endParaRPr lang="en-US" sz="1050" dirty="0"/>
          </a:p>
        </p:txBody>
      </p:sp>
      <p:sp>
        <p:nvSpPr>
          <p:cNvPr id="14" name="Text 1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5" name="Text 1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MANY PEOPLE AT ONCE</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Letting people edit at the same time</a:t>
            </a:r>
            <a:endParaRPr lang="en-US" sz="2800" dirty="0"/>
          </a:p>
        </p:txBody>
      </p:sp>
      <p:sp>
        <p:nvSpPr>
          <p:cNvPr id="4" name="Shape 2"/>
          <p:cNvSpPr/>
          <p:nvPr/>
        </p:nvSpPr>
        <p:spPr>
          <a:xfrm>
            <a:off x="548640" y="1463040"/>
            <a:ext cx="5486400" cy="2834640"/>
          </a:xfrm>
          <a:prstGeom prst="roundRect">
            <a:avLst>
              <a:gd name="adj" fmla="val 2903"/>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5" name="Shape 3"/>
          <p:cNvSpPr/>
          <p:nvPr/>
        </p:nvSpPr>
        <p:spPr>
          <a:xfrm>
            <a:off x="804672" y="1746504"/>
            <a:ext cx="118872" cy="118872"/>
          </a:xfrm>
          <a:prstGeom prst="ellipse">
            <a:avLst/>
          </a:prstGeom>
          <a:solidFill>
            <a:srgbClr val="B5651D"/>
          </a:solidFill>
          <a:ln/>
        </p:spPr>
      </p:sp>
      <p:sp>
        <p:nvSpPr>
          <p:cNvPr id="6" name="Text 4"/>
          <p:cNvSpPr txBox="1"/>
          <p:nvPr/>
        </p:nvSpPr>
        <p:spPr>
          <a:xfrm>
            <a:off x="1005840" y="1618488"/>
            <a:ext cx="484632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problem</a:t>
            </a:r>
            <a:endParaRPr lang="en-US" sz="1450" dirty="0"/>
          </a:p>
        </p:txBody>
      </p:sp>
      <p:sp>
        <p:nvSpPr>
          <p:cNvPr id="7" name="Text 5"/>
          <p:cNvSpPr txBox="1"/>
          <p:nvPr/>
        </p:nvSpPr>
        <p:spPr>
          <a:xfrm>
            <a:off x="859536" y="2066544"/>
            <a:ext cx="4937760" cy="21031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A file only let one person write at a time — by accident. A web app lets everyone write at once.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We had to stop two people quietly overwriting each other on the same account.</a:t>
            </a:r>
            <a:endParaRPr lang="en-US" sz="1200" dirty="0"/>
          </a:p>
        </p:txBody>
      </p:sp>
      <p:sp>
        <p:nvSpPr>
          <p:cNvPr id="8" name="Shape 6"/>
          <p:cNvSpPr/>
          <p:nvPr/>
        </p:nvSpPr>
        <p:spPr>
          <a:xfrm>
            <a:off x="6217920" y="1463040"/>
            <a:ext cx="5394960" cy="2834640"/>
          </a:xfrm>
          <a:prstGeom prst="roundRect">
            <a:avLst>
              <a:gd name="adj" fmla="val 2903"/>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9" name="Shape 7"/>
          <p:cNvSpPr/>
          <p:nvPr/>
        </p:nvSpPr>
        <p:spPr>
          <a:xfrm>
            <a:off x="6473952" y="1746504"/>
            <a:ext cx="118872" cy="118872"/>
          </a:xfrm>
          <a:prstGeom prst="ellipse">
            <a:avLst/>
          </a:prstGeom>
          <a:solidFill>
            <a:srgbClr val="00A896"/>
          </a:solidFill>
          <a:ln/>
        </p:spPr>
      </p:sp>
      <p:sp>
        <p:nvSpPr>
          <p:cNvPr id="10" name="Text 8"/>
          <p:cNvSpPr txBox="1"/>
          <p:nvPr/>
        </p:nvSpPr>
        <p:spPr>
          <a:xfrm>
            <a:off x="6675120" y="1618488"/>
            <a:ext cx="475488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we built</a:t>
            </a:r>
            <a:endParaRPr lang="en-US" sz="1450" dirty="0"/>
          </a:p>
        </p:txBody>
      </p:sp>
      <p:sp>
        <p:nvSpPr>
          <p:cNvPr id="11" name="Text 9"/>
          <p:cNvSpPr txBox="1"/>
          <p:nvPr/>
        </p:nvSpPr>
        <p:spPr>
          <a:xfrm>
            <a:off x="6528816" y="2066544"/>
            <a:ext cx="4846320" cy="21031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Each tab takes a lock when you start editing and releases it when you leave; typing keeps it alive.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Saving carries the lock with it. If you have lost the lock, we block the save but keep your draft so you do not lose work.</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If you refresh mid-edit, it picks your draft back up.</a:t>
            </a:r>
            <a:endParaRPr lang="en-US" sz="1200" dirty="0"/>
          </a:p>
        </p:txBody>
      </p:sp>
      <p:sp>
        <p:nvSpPr>
          <p:cNvPr id="12" name="Shape 10"/>
          <p:cNvSpPr/>
          <p:nvPr/>
        </p:nvSpPr>
        <p:spPr>
          <a:xfrm>
            <a:off x="548640" y="4572000"/>
            <a:ext cx="11064240" cy="475488"/>
          </a:xfrm>
          <a:prstGeom prst="roundRect">
            <a:avLst>
              <a:gd name="adj" fmla="val 9615"/>
            </a:avLst>
          </a:prstGeom>
          <a:solidFill>
            <a:srgbClr val="EAEFF7"/>
          </a:solidFill>
          <a:ln w="9525">
            <a:solidFill>
              <a:srgbClr val="D4DBE8"/>
            </a:solidFill>
            <a:prstDash val="solid"/>
          </a:ln>
        </p:spPr>
      </p:sp>
      <p:sp>
        <p:nvSpPr>
          <p:cNvPr id="13" name="Text 11"/>
          <p:cNvSpPr txBox="1"/>
          <p:nvPr/>
        </p:nvSpPr>
        <p:spPr>
          <a:xfrm>
            <a:off x="694944" y="459943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acquire(id, tab) -&gt; headers(id, tab) -&gt; PUT -&gt; saved()   /   lost lock: block save, keep draft</a:t>
            </a:r>
            <a:endParaRPr lang="en-US" sz="1050" dirty="0"/>
          </a:p>
        </p:txBody>
      </p:sp>
      <p:sp>
        <p:nvSpPr>
          <p:cNvPr id="14" name="Text 1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5" name="Text 1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A NASTY BUG</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The one that froze edit mode</a:t>
            </a:r>
            <a:endParaRPr lang="en-US" sz="2800" dirty="0"/>
          </a:p>
        </p:txBody>
      </p:sp>
      <p:sp>
        <p:nvSpPr>
          <p:cNvPr id="4" name="Shape 2"/>
          <p:cNvSpPr/>
          <p:nvPr/>
        </p:nvSpPr>
        <p:spPr>
          <a:xfrm>
            <a:off x="548640" y="1463040"/>
            <a:ext cx="5486400" cy="3017520"/>
          </a:xfrm>
          <a:prstGeom prst="roundRect">
            <a:avLst>
              <a:gd name="adj" fmla="val 2727"/>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5" name="Shape 3"/>
          <p:cNvSpPr/>
          <p:nvPr/>
        </p:nvSpPr>
        <p:spPr>
          <a:xfrm>
            <a:off x="804672" y="1746504"/>
            <a:ext cx="118872" cy="118872"/>
          </a:xfrm>
          <a:prstGeom prst="ellipse">
            <a:avLst/>
          </a:prstGeom>
          <a:solidFill>
            <a:srgbClr val="B5651D"/>
          </a:solidFill>
          <a:ln/>
        </p:spPr>
      </p:sp>
      <p:sp>
        <p:nvSpPr>
          <p:cNvPr id="6" name="Text 4"/>
          <p:cNvSpPr txBox="1"/>
          <p:nvPr/>
        </p:nvSpPr>
        <p:spPr>
          <a:xfrm>
            <a:off x="1005840" y="1618488"/>
            <a:ext cx="484632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What happened</a:t>
            </a:r>
            <a:endParaRPr lang="en-US" sz="1450" dirty="0"/>
          </a:p>
        </p:txBody>
      </p:sp>
      <p:sp>
        <p:nvSpPr>
          <p:cNvPr id="7" name="Text 5"/>
          <p:cNvSpPr txBox="1"/>
          <p:nvPr/>
        </p:nvSpPr>
        <p:spPr>
          <a:xfrm>
            <a:off x="859536" y="2066544"/>
            <a:ext cx="4937760" cy="228600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A date field was bound to a method that built a new Date every time Angular checked the screen.</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Angular saw a "new" value each pass and kept re-checking forever — the tab froze while editing.</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Sneaky, because the date itself was right; only the object was new each time.</a:t>
            </a:r>
            <a:endParaRPr lang="en-US" sz="1200" dirty="0"/>
          </a:p>
        </p:txBody>
      </p:sp>
      <p:sp>
        <p:nvSpPr>
          <p:cNvPr id="8" name="Shape 6"/>
          <p:cNvSpPr/>
          <p:nvPr/>
        </p:nvSpPr>
        <p:spPr>
          <a:xfrm>
            <a:off x="6217920" y="1463040"/>
            <a:ext cx="5394960" cy="3017520"/>
          </a:xfrm>
          <a:prstGeom prst="roundRect">
            <a:avLst>
              <a:gd name="adj" fmla="val 2727"/>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9" name="Shape 7"/>
          <p:cNvSpPr/>
          <p:nvPr/>
        </p:nvSpPr>
        <p:spPr>
          <a:xfrm>
            <a:off x="6473952" y="1746504"/>
            <a:ext cx="118872" cy="118872"/>
          </a:xfrm>
          <a:prstGeom prst="ellipse">
            <a:avLst/>
          </a:prstGeom>
          <a:solidFill>
            <a:srgbClr val="00A896"/>
          </a:solidFill>
          <a:ln/>
        </p:spPr>
      </p:sp>
      <p:sp>
        <p:nvSpPr>
          <p:cNvPr id="10" name="Text 8"/>
          <p:cNvSpPr txBox="1"/>
          <p:nvPr/>
        </p:nvSpPr>
        <p:spPr>
          <a:xfrm>
            <a:off x="6675120" y="1618488"/>
            <a:ext cx="475488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fix (and the lesson)</a:t>
            </a:r>
            <a:endParaRPr lang="en-US" sz="1450" dirty="0"/>
          </a:p>
        </p:txBody>
      </p:sp>
      <p:sp>
        <p:nvSpPr>
          <p:cNvPr id="11" name="Text 9"/>
          <p:cNvSpPr txBox="1"/>
          <p:nvPr/>
        </p:nvSpPr>
        <p:spPr>
          <a:xfrm>
            <a:off x="6528816" y="2066544"/>
            <a:ext cx="4846320" cy="228600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We save the Date and reuse it, so the same value gives back the same object.</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We also only allow month-end dates, with a custom calendar.</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Lesson: in OnPush mode, do not hand back a fresh object each time — reuse it.</a:t>
            </a:r>
            <a:endParaRPr lang="en-US" sz="1200" dirty="0"/>
          </a:p>
        </p:txBody>
      </p:sp>
      <p:sp>
        <p:nvSpPr>
          <p:cNvPr id="12" name="Shape 10"/>
          <p:cNvSpPr/>
          <p:nvPr/>
        </p:nvSpPr>
        <p:spPr>
          <a:xfrm>
            <a:off x="548640" y="4663440"/>
            <a:ext cx="11064240" cy="475488"/>
          </a:xfrm>
          <a:prstGeom prst="roundRect">
            <a:avLst>
              <a:gd name="adj" fmla="val 9615"/>
            </a:avLst>
          </a:prstGeom>
          <a:solidFill>
            <a:srgbClr val="EAEFF7"/>
          </a:solidFill>
          <a:ln w="9525">
            <a:solidFill>
              <a:srgbClr val="D4DBE8"/>
            </a:solidFill>
            <a:prstDash val="solid"/>
          </a:ln>
        </p:spPr>
      </p:sp>
      <p:sp>
        <p:nvSpPr>
          <p:cNvPr id="13" name="Text 11"/>
          <p:cNvSpPr txBox="1"/>
          <p:nvPr/>
        </p:nvSpPr>
        <p:spPr>
          <a:xfrm>
            <a:off x="694944" y="469087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asDate(v){ return this.dateCache[v] ??= new Date(v + "T00:00:00"); }   // same value, same object</a:t>
            </a:r>
            <a:endParaRPr lang="en-US" sz="1050" dirty="0"/>
          </a:p>
        </p:txBody>
      </p:sp>
      <p:sp>
        <p:nvSpPr>
          <p:cNvPr id="14" name="Text 1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5" name="Text 1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TWO SIDES, ONE SHAPE</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1E2761"/>
                </a:solidFill>
                <a:latin typeface="Calibri" pitchFamily="34" charset="0"/>
                <a:ea typeface="Calibri" pitchFamily="34" charset="-122"/>
                <a:cs typeface="Calibri" pitchFamily="34" charset="-120"/>
              </a:rPr>
              <a:t>Making the data fit both sides</a:t>
            </a:r>
            <a:endParaRPr lang="en-US" sz="2800" dirty="0"/>
          </a:p>
        </p:txBody>
      </p:sp>
      <p:sp>
        <p:nvSpPr>
          <p:cNvPr id="4" name="Shape 2"/>
          <p:cNvSpPr/>
          <p:nvPr/>
        </p:nvSpPr>
        <p:spPr>
          <a:xfrm>
            <a:off x="548640" y="1463040"/>
            <a:ext cx="5486400" cy="2834640"/>
          </a:xfrm>
          <a:prstGeom prst="roundRect">
            <a:avLst>
              <a:gd name="adj" fmla="val 2903"/>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5" name="Shape 3"/>
          <p:cNvSpPr/>
          <p:nvPr/>
        </p:nvSpPr>
        <p:spPr>
          <a:xfrm>
            <a:off x="804672" y="1746504"/>
            <a:ext cx="118872" cy="118872"/>
          </a:xfrm>
          <a:prstGeom prst="ellipse">
            <a:avLst/>
          </a:prstGeom>
          <a:solidFill>
            <a:srgbClr val="B5651D"/>
          </a:solidFill>
          <a:ln/>
        </p:spPr>
      </p:sp>
      <p:sp>
        <p:nvSpPr>
          <p:cNvPr id="6" name="Text 4"/>
          <p:cNvSpPr txBox="1"/>
          <p:nvPr/>
        </p:nvSpPr>
        <p:spPr>
          <a:xfrm>
            <a:off x="1005840" y="1618488"/>
            <a:ext cx="484632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The mismatches</a:t>
            </a:r>
            <a:endParaRPr lang="en-US" sz="1450" dirty="0"/>
          </a:p>
        </p:txBody>
      </p:sp>
      <p:sp>
        <p:nvSpPr>
          <p:cNvPr id="7" name="Text 5"/>
          <p:cNvSpPr txBox="1"/>
          <p:nvPr/>
        </p:nvSpPr>
        <p:spPr>
          <a:xfrm>
            <a:off x="859536" y="2066544"/>
            <a:ext cx="4937760" cy="21031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The backend wanted revenue inside the income-statement section, not where the screen shows it.</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Sending totals the server recalculates could make the two disagree.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Field order and comment keys had to stay the same through load -&gt; edit -&gt; save.</a:t>
            </a:r>
            <a:endParaRPr lang="en-US" sz="1200" dirty="0"/>
          </a:p>
        </p:txBody>
      </p:sp>
      <p:sp>
        <p:nvSpPr>
          <p:cNvPr id="8" name="Shape 6"/>
          <p:cNvSpPr/>
          <p:nvPr/>
        </p:nvSpPr>
        <p:spPr>
          <a:xfrm>
            <a:off x="6217920" y="1463040"/>
            <a:ext cx="5394960" cy="2834640"/>
          </a:xfrm>
          <a:prstGeom prst="roundRect">
            <a:avLst>
              <a:gd name="adj" fmla="val 2903"/>
            </a:avLst>
          </a:prstGeom>
          <a:solidFill>
            <a:srgbClr val="FFFFFF"/>
          </a:solidFill>
          <a:ln w="12700">
            <a:solidFill>
              <a:srgbClr val="D4DBE8"/>
            </a:solidFill>
            <a:prstDash val="solid"/>
          </a:ln>
          <a:effectLst>
            <a:outerShdw sx="100000" sy="100000" kx="0" ky="0" algn="bl" rotWithShape="0" blurRad="76200" dist="25400" dir="5400000">
              <a:srgbClr val="A9B4C6">
                <a:alpha val="33000"/>
              </a:srgbClr>
            </a:outerShdw>
          </a:effectLst>
        </p:spPr>
      </p:sp>
      <p:sp>
        <p:nvSpPr>
          <p:cNvPr id="9" name="Shape 7"/>
          <p:cNvSpPr/>
          <p:nvPr/>
        </p:nvSpPr>
        <p:spPr>
          <a:xfrm>
            <a:off x="6473952" y="1746504"/>
            <a:ext cx="118872" cy="118872"/>
          </a:xfrm>
          <a:prstGeom prst="ellipse">
            <a:avLst/>
          </a:prstGeom>
          <a:solidFill>
            <a:srgbClr val="00A896"/>
          </a:solidFill>
          <a:ln/>
        </p:spPr>
      </p:sp>
      <p:sp>
        <p:nvSpPr>
          <p:cNvPr id="10" name="Text 8"/>
          <p:cNvSpPr txBox="1"/>
          <p:nvPr/>
        </p:nvSpPr>
        <p:spPr>
          <a:xfrm>
            <a:off x="6675120" y="1618488"/>
            <a:ext cx="4754880" cy="365760"/>
          </a:xfrm>
          <a:prstGeom prst="rect">
            <a:avLst/>
          </a:prstGeom>
          <a:noFill/>
          <a:ln/>
        </p:spPr>
        <p:txBody>
          <a:bodyPr wrap="square"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How we handled it</a:t>
            </a:r>
            <a:endParaRPr lang="en-US" sz="1450" dirty="0"/>
          </a:p>
        </p:txBody>
      </p:sp>
      <p:sp>
        <p:nvSpPr>
          <p:cNvPr id="11" name="Text 9"/>
          <p:cNvSpPr txBox="1"/>
          <p:nvPr/>
        </p:nvSpPr>
        <p:spPr>
          <a:xfrm>
            <a:off x="6528816" y="2066544"/>
            <a:ext cx="4846320" cy="2103120"/>
          </a:xfrm>
          <a:prstGeom prst="rect">
            <a:avLst/>
          </a:prstGeom>
          <a:noFill/>
          <a:ln/>
        </p:spPr>
        <p:txBody>
          <a:bodyPr wrap="square" rtlCol="0" anchor="t"/>
          <a:lstStyle/>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One function gets the save ready: it moves revenue where the backend wants it and drops the totals the server works out itself.</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Keeps field order and comment keys steady, so saves behave the same every time.</a:t>
            </a:r>
            <a:endParaRPr lang="en-US" sz="1200" dirty="0"/>
          </a:p>
          <a:p>
            <a:pPr marL="342900" indent="-342900">
              <a:lnSpc>
                <a:spcPct val="100000"/>
              </a:lnSpc>
              <a:spcAft>
                <a:spcPts val="700"/>
              </a:spcAft>
              <a:buSzPct val="100000"/>
              <a:buChar char="•"/>
            </a:pPr>
            <a:r>
              <a:rPr lang="en-US" sz="1200" dirty="0">
                <a:solidFill>
                  <a:srgbClr val="20242F"/>
                </a:solidFill>
                <a:latin typeface="Calibri" pitchFamily="34" charset="0"/>
                <a:ea typeface="Calibri" pitchFamily="34" charset="-122"/>
                <a:cs typeface="Calibri" pitchFamily="34" charset="-120"/>
              </a:rPr>
              <a:t>Checks required fields and month-end dates before sending.</a:t>
            </a:r>
            <a:endParaRPr lang="en-US" sz="1200" dirty="0"/>
          </a:p>
        </p:txBody>
      </p:sp>
      <p:sp>
        <p:nvSpPr>
          <p:cNvPr id="12" name="Shape 10"/>
          <p:cNvSpPr/>
          <p:nvPr/>
        </p:nvSpPr>
        <p:spPr>
          <a:xfrm>
            <a:off x="548640" y="4572000"/>
            <a:ext cx="11064240" cy="475488"/>
          </a:xfrm>
          <a:prstGeom prst="roundRect">
            <a:avLst>
              <a:gd name="adj" fmla="val 9615"/>
            </a:avLst>
          </a:prstGeom>
          <a:solidFill>
            <a:srgbClr val="EAEFF7"/>
          </a:solidFill>
          <a:ln w="9525">
            <a:solidFill>
              <a:srgbClr val="D4DBE8"/>
            </a:solidFill>
            <a:prstDash val="solid"/>
          </a:ln>
        </p:spPr>
      </p:sp>
      <p:sp>
        <p:nvSpPr>
          <p:cNvPr id="13" name="Text 11"/>
          <p:cNvSpPr txBox="1"/>
          <p:nvPr/>
        </p:nvSpPr>
        <p:spPr>
          <a:xfrm>
            <a:off x="694944" y="4599432"/>
            <a:ext cx="10789920" cy="420624"/>
          </a:xfrm>
          <a:prstGeom prst="rect">
            <a:avLst/>
          </a:prstGeom>
          <a:noFill/>
          <a:ln/>
        </p:spPr>
        <p:txBody>
          <a:bodyPr wrap="square" rtlCol="0" anchor="ctr"/>
          <a:lstStyle/>
          <a:p>
            <a:pPr indent="0" marL="0">
              <a:buNone/>
            </a:pPr>
            <a:r>
              <a:rPr lang="en-US" sz="1050" dirty="0">
                <a:solidFill>
                  <a:srgbClr val="1E2761"/>
                </a:solidFill>
                <a:latin typeface="Courier New" pitchFamily="34" charset="0"/>
                <a:ea typeface="Courier New" pitchFamily="34" charset="-122"/>
                <a:cs typeface="Courier New" pitchFamily="34" charset="-120"/>
              </a:rPr>
              <a:t>buildUpdatedJSON(): move revenue -&gt; incomeStatement;  drop totalDebt / totalAssets (server recomputes)</a:t>
            </a:r>
            <a:endParaRPr lang="en-US" sz="1050" dirty="0"/>
          </a:p>
        </p:txBody>
      </p:sp>
      <p:sp>
        <p:nvSpPr>
          <p:cNvPr id="14" name="Text 12"/>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15" name="Text 13"/>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A3C"/>
        </a:solidFill>
      </p:bgPr>
    </p:bg>
    <p:spTree>
      <p:nvGrpSpPr>
        <p:cNvPr id="1" name=""/>
        <p:cNvGrpSpPr/>
        <p:nvPr/>
      </p:nvGrpSpPr>
      <p:grpSpPr>
        <a:xfrm>
          <a:off x="0" y="0"/>
          <a:ext cx="0" cy="0"/>
          <a:chOff x="0" y="0"/>
          <a:chExt cx="0" cy="0"/>
        </a:xfrm>
      </p:grpSpPr>
      <p:sp>
        <p:nvSpPr>
          <p:cNvPr id="2" name="Text 0"/>
          <p:cNvSpPr txBox="1"/>
          <p:nvPr/>
        </p:nvSpPr>
        <p:spPr>
          <a:xfrm>
            <a:off x="548640" y="164592"/>
            <a:ext cx="11091672" cy="274320"/>
          </a:xfrm>
          <a:prstGeom prst="rect">
            <a:avLst/>
          </a:prstGeom>
          <a:noFill/>
          <a:ln/>
        </p:spPr>
        <p:txBody>
          <a:bodyPr wrap="square" rtlCol="0" anchor="ctr"/>
          <a:lstStyle/>
          <a:p>
            <a:pPr indent="0" marL="0">
              <a:buNone/>
            </a:pPr>
            <a:r>
              <a:rPr lang="en-US" sz="1150" b="1" spc="200" kern="0" dirty="0">
                <a:solidFill>
                  <a:srgbClr val="00A896"/>
                </a:solidFill>
                <a:latin typeface="Calibri" pitchFamily="34" charset="0"/>
                <a:ea typeface="Calibri" pitchFamily="34" charset="-122"/>
                <a:cs typeface="Calibri" pitchFamily="34" charset="-120"/>
              </a:rPr>
              <a:t>WHAT WE TOOK AWAY</a:t>
            </a:r>
            <a:endParaRPr lang="en-US" sz="1150" dirty="0"/>
          </a:p>
        </p:txBody>
      </p:sp>
      <p:sp>
        <p:nvSpPr>
          <p:cNvPr id="3" name="Text 1"/>
          <p:cNvSpPr txBox="1"/>
          <p:nvPr/>
        </p:nvSpPr>
        <p:spPr>
          <a:xfrm>
            <a:off x="548640" y="365760"/>
            <a:ext cx="11091672" cy="68580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What we learned</a:t>
            </a:r>
            <a:endParaRPr lang="en-US" sz="2800" dirty="0"/>
          </a:p>
        </p:txBody>
      </p:sp>
      <p:sp>
        <p:nvSpPr>
          <p:cNvPr id="4" name="Shape 2"/>
          <p:cNvSpPr/>
          <p:nvPr/>
        </p:nvSpPr>
        <p:spPr>
          <a:xfrm>
            <a:off x="566928" y="1645920"/>
            <a:ext cx="118872" cy="118872"/>
          </a:xfrm>
          <a:prstGeom prst="ellipse">
            <a:avLst/>
          </a:prstGeom>
          <a:solidFill>
            <a:srgbClr val="00A896"/>
          </a:solidFill>
          <a:ln/>
        </p:spPr>
      </p:sp>
      <p:sp>
        <p:nvSpPr>
          <p:cNvPr id="5" name="Text 3"/>
          <p:cNvSpPr txBox="1"/>
          <p:nvPr/>
        </p:nvSpPr>
        <p:spPr>
          <a:xfrm>
            <a:off x="868680" y="1554480"/>
            <a:ext cx="44805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Matching Excel is a testing job</a:t>
            </a:r>
            <a:endParaRPr lang="en-US" sz="1500" dirty="0"/>
          </a:p>
        </p:txBody>
      </p:sp>
      <p:sp>
        <p:nvSpPr>
          <p:cNvPr id="6" name="Text 4"/>
          <p:cNvSpPr txBox="1"/>
          <p:nvPr/>
        </p:nvSpPr>
        <p:spPr>
          <a:xfrm>
            <a:off x="5486400" y="1554480"/>
            <a:ext cx="6153912" cy="548640"/>
          </a:xfrm>
          <a:prstGeom prst="rect">
            <a:avLst/>
          </a:prstGeom>
          <a:noFill/>
          <a:ln/>
        </p:spPr>
        <p:txBody>
          <a:bodyPr wrap="square" rtlCol="0" anchor="ctr"/>
          <a:lstStyle/>
          <a:p>
            <a:pPr indent="0" marL="0">
              <a:lnSpc>
                <a:spcPct val="100000"/>
              </a:lnSpc>
              <a:buNone/>
            </a:pPr>
            <a:r>
              <a:rPr lang="en-US" sz="1300" dirty="0">
                <a:solidFill>
                  <a:srgbClr val="CADCFC"/>
                </a:solidFill>
                <a:latin typeface="Calibri" pitchFamily="34" charset="0"/>
                <a:ea typeface="Calibri" pitchFamily="34" charset="-122"/>
                <a:cs typeface="Calibri" pitchFamily="34" charset="-120"/>
              </a:rPr>
              <a:t>Lock it down with saved examples — do not trust your eyes.</a:t>
            </a:r>
            <a:endParaRPr lang="en-US" sz="1300" dirty="0"/>
          </a:p>
        </p:txBody>
      </p:sp>
      <p:sp>
        <p:nvSpPr>
          <p:cNvPr id="7" name="Shape 5"/>
          <p:cNvSpPr/>
          <p:nvPr/>
        </p:nvSpPr>
        <p:spPr>
          <a:xfrm>
            <a:off x="566928" y="2377440"/>
            <a:ext cx="118872" cy="118872"/>
          </a:xfrm>
          <a:prstGeom prst="ellipse">
            <a:avLst/>
          </a:prstGeom>
          <a:solidFill>
            <a:srgbClr val="00A896"/>
          </a:solidFill>
          <a:ln/>
        </p:spPr>
      </p:sp>
      <p:sp>
        <p:nvSpPr>
          <p:cNvPr id="8" name="Text 6"/>
          <p:cNvSpPr txBox="1"/>
          <p:nvPr/>
        </p:nvSpPr>
        <p:spPr>
          <a:xfrm>
            <a:off x="868680" y="2286000"/>
            <a:ext cx="44805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Leave the data alone</a:t>
            </a:r>
            <a:endParaRPr lang="en-US" sz="1500" dirty="0"/>
          </a:p>
        </p:txBody>
      </p:sp>
      <p:sp>
        <p:nvSpPr>
          <p:cNvPr id="9" name="Text 7"/>
          <p:cNvSpPr txBox="1"/>
          <p:nvPr/>
        </p:nvSpPr>
        <p:spPr>
          <a:xfrm>
            <a:off x="5486400" y="2286000"/>
            <a:ext cx="6153912" cy="548640"/>
          </a:xfrm>
          <a:prstGeom prst="rect">
            <a:avLst/>
          </a:prstGeom>
          <a:noFill/>
          <a:ln/>
        </p:spPr>
        <p:txBody>
          <a:bodyPr wrap="square" rtlCol="0" anchor="ctr"/>
          <a:lstStyle/>
          <a:p>
            <a:pPr indent="0" marL="0">
              <a:lnSpc>
                <a:spcPct val="100000"/>
              </a:lnSpc>
              <a:buNone/>
            </a:pPr>
            <a:r>
              <a:rPr lang="en-US" sz="1300" dirty="0">
                <a:solidFill>
                  <a:srgbClr val="CADCFC"/>
                </a:solidFill>
                <a:latin typeface="Calibri" pitchFamily="34" charset="0"/>
                <a:ea typeface="Calibri" pitchFamily="34" charset="-122"/>
                <a:cs typeface="Calibri" pitchFamily="34" charset="-120"/>
              </a:rPr>
              <a:t>Reuse the database; move the logic, not the rows — and expect old-data surprises.</a:t>
            </a:r>
            <a:endParaRPr lang="en-US" sz="1300" dirty="0"/>
          </a:p>
        </p:txBody>
      </p:sp>
      <p:sp>
        <p:nvSpPr>
          <p:cNvPr id="10" name="Shape 8"/>
          <p:cNvSpPr/>
          <p:nvPr/>
        </p:nvSpPr>
        <p:spPr>
          <a:xfrm>
            <a:off x="566928" y="3108960"/>
            <a:ext cx="118872" cy="118872"/>
          </a:xfrm>
          <a:prstGeom prst="ellipse">
            <a:avLst/>
          </a:prstGeom>
          <a:solidFill>
            <a:srgbClr val="00A896"/>
          </a:solidFill>
          <a:ln/>
        </p:spPr>
      </p:sp>
      <p:sp>
        <p:nvSpPr>
          <p:cNvPr id="11" name="Text 9"/>
          <p:cNvSpPr txBox="1"/>
          <p:nvPr/>
        </p:nvSpPr>
        <p:spPr>
          <a:xfrm>
            <a:off x="868680" y="3017520"/>
            <a:ext cx="44805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Keep the logic in one place</a:t>
            </a:r>
            <a:endParaRPr lang="en-US" sz="1500" dirty="0"/>
          </a:p>
        </p:txBody>
      </p:sp>
      <p:sp>
        <p:nvSpPr>
          <p:cNvPr id="12" name="Text 10"/>
          <p:cNvSpPr txBox="1"/>
          <p:nvPr/>
        </p:nvSpPr>
        <p:spPr>
          <a:xfrm>
            <a:off x="5486400" y="3017520"/>
            <a:ext cx="6153912" cy="548640"/>
          </a:xfrm>
          <a:prstGeom prst="rect">
            <a:avLst/>
          </a:prstGeom>
          <a:noFill/>
          <a:ln/>
        </p:spPr>
        <p:txBody>
          <a:bodyPr wrap="square" rtlCol="0" anchor="ctr"/>
          <a:lstStyle/>
          <a:p>
            <a:pPr indent="0" marL="0">
              <a:lnSpc>
                <a:spcPct val="100000"/>
              </a:lnSpc>
              <a:buNone/>
            </a:pPr>
            <a:r>
              <a:rPr lang="en-US" sz="1300" dirty="0">
                <a:solidFill>
                  <a:srgbClr val="CADCFC"/>
                </a:solidFill>
                <a:latin typeface="Calibri" pitchFamily="34" charset="0"/>
                <a:ea typeface="Calibri" pitchFamily="34" charset="-122"/>
                <a:cs typeface="Calibri" pitchFamily="34" charset="-120"/>
              </a:rPr>
              <a:t>All the moved-over math lives in the services, so there is one place to check and fix.</a:t>
            </a:r>
            <a:endParaRPr lang="en-US" sz="1300" dirty="0"/>
          </a:p>
        </p:txBody>
      </p:sp>
      <p:sp>
        <p:nvSpPr>
          <p:cNvPr id="13" name="Shape 11"/>
          <p:cNvSpPr/>
          <p:nvPr/>
        </p:nvSpPr>
        <p:spPr>
          <a:xfrm>
            <a:off x="566928" y="3840480"/>
            <a:ext cx="118872" cy="118872"/>
          </a:xfrm>
          <a:prstGeom prst="ellipse">
            <a:avLst/>
          </a:prstGeom>
          <a:solidFill>
            <a:srgbClr val="00A896"/>
          </a:solidFill>
          <a:ln/>
        </p:spPr>
      </p:sp>
      <p:sp>
        <p:nvSpPr>
          <p:cNvPr id="14" name="Text 12"/>
          <p:cNvSpPr txBox="1"/>
          <p:nvPr/>
        </p:nvSpPr>
        <p:spPr>
          <a:xfrm>
            <a:off x="868680" y="3749040"/>
            <a:ext cx="44805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OnPush needs steady objects</a:t>
            </a:r>
            <a:endParaRPr lang="en-US" sz="1500" dirty="0"/>
          </a:p>
        </p:txBody>
      </p:sp>
      <p:sp>
        <p:nvSpPr>
          <p:cNvPr id="15" name="Text 13"/>
          <p:cNvSpPr txBox="1"/>
          <p:nvPr/>
        </p:nvSpPr>
        <p:spPr>
          <a:xfrm>
            <a:off x="5486400" y="3749040"/>
            <a:ext cx="6153912" cy="548640"/>
          </a:xfrm>
          <a:prstGeom prst="rect">
            <a:avLst/>
          </a:prstGeom>
          <a:noFill/>
          <a:ln/>
        </p:spPr>
        <p:txBody>
          <a:bodyPr wrap="square" rtlCol="0" anchor="ctr"/>
          <a:lstStyle/>
          <a:p>
            <a:pPr indent="0" marL="0">
              <a:lnSpc>
                <a:spcPct val="100000"/>
              </a:lnSpc>
              <a:buNone/>
            </a:pPr>
            <a:r>
              <a:rPr lang="en-US" sz="1300" dirty="0">
                <a:solidFill>
                  <a:srgbClr val="CADCFC"/>
                </a:solidFill>
                <a:latin typeface="Calibri" pitchFamily="34" charset="0"/>
                <a:ea typeface="Calibri" pitchFamily="34" charset="-122"/>
                <a:cs typeface="Calibri" pitchFamily="34" charset="-120"/>
              </a:rPr>
              <a:t>Most of our "freezes" were new-object bugs, not logic bugs.</a:t>
            </a:r>
            <a:endParaRPr lang="en-US" sz="1300" dirty="0"/>
          </a:p>
        </p:txBody>
      </p:sp>
      <p:sp>
        <p:nvSpPr>
          <p:cNvPr id="16" name="Shape 14"/>
          <p:cNvSpPr/>
          <p:nvPr/>
        </p:nvSpPr>
        <p:spPr>
          <a:xfrm>
            <a:off x="566928" y="4572000"/>
            <a:ext cx="118872" cy="118872"/>
          </a:xfrm>
          <a:prstGeom prst="ellipse">
            <a:avLst/>
          </a:prstGeom>
          <a:solidFill>
            <a:srgbClr val="00A896"/>
          </a:solidFill>
          <a:ln/>
        </p:spPr>
      </p:sp>
      <p:sp>
        <p:nvSpPr>
          <p:cNvPr id="17" name="Text 15"/>
          <p:cNvSpPr txBox="1"/>
          <p:nvPr/>
        </p:nvSpPr>
        <p:spPr>
          <a:xfrm>
            <a:off x="868680" y="4480560"/>
            <a:ext cx="448056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Spell out the hidden stuff</a:t>
            </a:r>
            <a:endParaRPr lang="en-US" sz="1500" dirty="0"/>
          </a:p>
        </p:txBody>
      </p:sp>
      <p:sp>
        <p:nvSpPr>
          <p:cNvPr id="18" name="Text 16"/>
          <p:cNvSpPr txBox="1"/>
          <p:nvPr/>
        </p:nvSpPr>
        <p:spPr>
          <a:xfrm>
            <a:off x="5486400" y="4480560"/>
            <a:ext cx="6153912" cy="548640"/>
          </a:xfrm>
          <a:prstGeom prst="rect">
            <a:avLst/>
          </a:prstGeom>
          <a:noFill/>
          <a:ln/>
        </p:spPr>
        <p:txBody>
          <a:bodyPr wrap="square" rtlCol="0" anchor="ctr"/>
          <a:lstStyle/>
          <a:p>
            <a:pPr indent="0" marL="0">
              <a:lnSpc>
                <a:spcPct val="100000"/>
              </a:lnSpc>
              <a:buNone/>
            </a:pPr>
            <a:r>
              <a:rPr lang="en-US" sz="1300" dirty="0">
                <a:solidFill>
                  <a:srgbClr val="CADCFC"/>
                </a:solidFill>
                <a:latin typeface="Calibri" pitchFamily="34" charset="0"/>
                <a:ea typeface="Calibri" pitchFamily="34" charset="-122"/>
                <a:cs typeface="Calibri" pitchFamily="34" charset="-120"/>
              </a:rPr>
              <a:t>Optional and hidden fields need a real plan — slots, keys, rename rules.</a:t>
            </a:r>
            <a:endParaRPr lang="en-US" sz="1300" dirty="0"/>
          </a:p>
        </p:txBody>
      </p:sp>
      <p:sp>
        <p:nvSpPr>
          <p:cNvPr id="19" name="Text 17"/>
          <p:cNvSpPr txBox="1"/>
          <p:nvPr/>
        </p:nvSpPr>
        <p:spPr>
          <a:xfrm>
            <a:off x="548640" y="5943600"/>
            <a:ext cx="10058400" cy="457200"/>
          </a:xfrm>
          <a:prstGeom prst="rect">
            <a:avLst/>
          </a:prstGeom>
          <a:noFill/>
          <a:ln/>
        </p:spPr>
        <p:txBody>
          <a:bodyPr wrap="square" rtlCol="0" anchor="ctr"/>
          <a:lstStyle/>
          <a:p>
            <a:pPr indent="0" marL="0">
              <a:buNone/>
            </a:pPr>
            <a:r>
              <a:rPr lang="en-US" sz="1800" b="1" dirty="0">
                <a:solidFill>
                  <a:srgbClr val="00A896"/>
                </a:solidFill>
                <a:latin typeface="Calibri" pitchFamily="34" charset="0"/>
                <a:ea typeface="Calibri" pitchFamily="34" charset="-122"/>
                <a:cs typeface="Calibri" pitchFamily="34" charset="-120"/>
              </a:rPr>
              <a:t>Thanks — happy to dig into any of these</a:t>
            </a:r>
            <a:endParaRPr lang="en-US" sz="1800" dirty="0"/>
          </a:p>
        </p:txBody>
      </p:sp>
      <p:sp>
        <p:nvSpPr>
          <p:cNvPr id="20" name="Text 18"/>
          <p:cNvSpPr txBox="1"/>
          <p:nvPr/>
        </p:nvSpPr>
        <p:spPr>
          <a:xfrm>
            <a:off x="54864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CFA — How We Rebuilt It  ·  Engineering</a:t>
            </a:r>
            <a:endParaRPr lang="en-US" sz="900" dirty="0"/>
          </a:p>
        </p:txBody>
      </p:sp>
      <p:sp>
        <p:nvSpPr>
          <p:cNvPr id="21" name="Text 19"/>
          <p:cNvSpPr txBox="1"/>
          <p:nvPr/>
        </p:nvSpPr>
        <p:spPr>
          <a:xfrm>
            <a:off x="11091672" y="6492240"/>
            <a:ext cx="548640" cy="274320"/>
          </a:xfrm>
          <a:prstGeom prst="rect">
            <a:avLst/>
          </a:prstGeom>
          <a:noFill/>
          <a:ln/>
        </p:spPr>
        <p:txBody>
          <a:bodyPr wrap="square"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Surety Next Level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Engineering</dc:creator>
  <cp:lastModifiedBy>Engineering</cp:lastModifiedBy>
  <cp:revision>1</cp:revision>
  <dcterms:created xsi:type="dcterms:W3CDTF">2026-10-09T03:28:29Z</dcterms:created>
  <dcterms:modified xsi:type="dcterms:W3CDTF">2026-10-09T03:28:29Z</dcterms:modified>
</cp:coreProperties>
</file>